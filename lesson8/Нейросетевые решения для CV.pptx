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47" r:id="rId3"/>
    <p:sldId id="400" r:id="rId4"/>
    <p:sldId id="370" r:id="rId5"/>
    <p:sldId id="396" r:id="rId6"/>
    <p:sldId id="397" r:id="rId7"/>
    <p:sldId id="398" r:id="rId8"/>
    <p:sldId id="402" r:id="rId9"/>
    <p:sldId id="403" r:id="rId10"/>
    <p:sldId id="432" r:id="rId11"/>
    <p:sldId id="436" r:id="rId12"/>
    <p:sldId id="404" r:id="rId13"/>
    <p:sldId id="429" r:id="rId14"/>
    <p:sldId id="430" r:id="rId15"/>
    <p:sldId id="437" r:id="rId16"/>
    <p:sldId id="438" r:id="rId17"/>
    <p:sldId id="439" r:id="rId18"/>
    <p:sldId id="440" r:id="rId19"/>
    <p:sldId id="441" r:id="rId20"/>
    <p:sldId id="442" r:id="rId21"/>
    <p:sldId id="444" r:id="rId22"/>
    <p:sldId id="302" r:id="rId23"/>
    <p:sldId id="332" r:id="rId24"/>
    <p:sldId id="333" r:id="rId25"/>
    <p:sldId id="443" r:id="rId26"/>
    <p:sldId id="428" r:id="rId27"/>
    <p:sldId id="406" r:id="rId28"/>
    <p:sldId id="421" r:id="rId29"/>
    <p:sldId id="423" r:id="rId30"/>
    <p:sldId id="424" r:id="rId31"/>
    <p:sldId id="419" r:id="rId32"/>
    <p:sldId id="420" r:id="rId33"/>
    <p:sldId id="410" r:id="rId34"/>
    <p:sldId id="411" r:id="rId35"/>
    <p:sldId id="413" r:id="rId36"/>
    <p:sldId id="412" r:id="rId37"/>
    <p:sldId id="395" r:id="rId3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39" autoAdjust="0"/>
    <p:restoredTop sz="94660"/>
  </p:normalViewPr>
  <p:slideViewPr>
    <p:cSldViewPr snapToGrid="0">
      <p:cViewPr varScale="1">
        <p:scale>
          <a:sx n="78" d="100"/>
          <a:sy n="78" d="100"/>
        </p:scale>
        <p:origin x="101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81CB9-05C4-4003-ABB9-CF03ED59C1D8}" type="datetimeFigureOut">
              <a:rPr lang="ru-RU" smtClean="0"/>
              <a:t>27.12.2025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940B1D-7B83-4C8C-94F1-D1B0976A5B05}" type="slidenum">
              <a:rPr lang="ru-RU" smtClean="0"/>
              <a:t>‹#›</a:t>
            </a:fld>
            <a:endParaRPr lang="ru-RU"/>
          </a:p>
        </p:txBody>
      </p:sp>
    </p:spTree>
    <p:extLst>
      <p:ext uri="{BB962C8B-B14F-4D97-AF65-F5344CB8AC3E}">
        <p14:creationId xmlns:p14="http://schemas.microsoft.com/office/powerpoint/2010/main" val="1726841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DBD17F-B6F7-D2D0-3630-012BD3FEFA43}"/>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D8DA831-5D8D-D37F-C5AD-F9F1A98ED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72320724-1352-C3A9-F2AA-0F161DCCBB99}"/>
              </a:ext>
            </a:extLst>
          </p:cNvPr>
          <p:cNvSpPr>
            <a:spLocks noGrp="1"/>
          </p:cNvSpPr>
          <p:nvPr>
            <p:ph type="dt" sz="half" idx="10"/>
          </p:nvPr>
        </p:nvSpPr>
        <p:spPr/>
        <p:txBody>
          <a:bodyPr/>
          <a:lstStyle/>
          <a:p>
            <a:fld id="{B0C5B573-63FA-447D-9ED8-B910C8E3B101}" type="datetime1">
              <a:rPr lang="ru-RU" smtClean="0"/>
              <a:t>27.12.2025</a:t>
            </a:fld>
            <a:endParaRPr lang="ru-RU"/>
          </a:p>
        </p:txBody>
      </p:sp>
      <p:sp>
        <p:nvSpPr>
          <p:cNvPr id="5" name="Нижний колонтитул 4">
            <a:extLst>
              <a:ext uri="{FF2B5EF4-FFF2-40B4-BE49-F238E27FC236}">
                <a16:creationId xmlns:a16="http://schemas.microsoft.com/office/drawing/2014/main" id="{7C937268-0EAB-1169-A8B2-06180A88E5A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5BB2750-F058-A380-3743-696059B96C1E}"/>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5518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3CEE73-FF5F-D062-8CC5-8CDD5A4FF1C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7592C3B-FF04-3CDD-F8D3-D96870E61AEB}"/>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F3D8B3E-0C15-3BBB-10E9-73474C9B5DE2}"/>
              </a:ext>
            </a:extLst>
          </p:cNvPr>
          <p:cNvSpPr>
            <a:spLocks noGrp="1"/>
          </p:cNvSpPr>
          <p:nvPr>
            <p:ph type="dt" sz="half" idx="10"/>
          </p:nvPr>
        </p:nvSpPr>
        <p:spPr/>
        <p:txBody>
          <a:bodyPr/>
          <a:lstStyle/>
          <a:p>
            <a:fld id="{B63F3735-CDC9-4C69-A44F-2B470B513428}" type="datetime1">
              <a:rPr lang="ru-RU" smtClean="0"/>
              <a:t>27.12.2025</a:t>
            </a:fld>
            <a:endParaRPr lang="ru-RU"/>
          </a:p>
        </p:txBody>
      </p:sp>
      <p:sp>
        <p:nvSpPr>
          <p:cNvPr id="5" name="Нижний колонтитул 4">
            <a:extLst>
              <a:ext uri="{FF2B5EF4-FFF2-40B4-BE49-F238E27FC236}">
                <a16:creationId xmlns:a16="http://schemas.microsoft.com/office/drawing/2014/main" id="{BA90C292-299E-289C-C4C5-DF4A73B1EB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0CA3FBA-4315-3B13-6AD9-EF20822B8A26}"/>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087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8B0F8-9531-246A-350F-18F57DB9E96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D4ED5CA-A6A8-F8A8-EAF2-C5D7EDAE22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0A1835A-4701-4541-B51C-AB65AF88F787}"/>
              </a:ext>
            </a:extLst>
          </p:cNvPr>
          <p:cNvSpPr>
            <a:spLocks noGrp="1"/>
          </p:cNvSpPr>
          <p:nvPr>
            <p:ph type="dt" sz="half" idx="10"/>
          </p:nvPr>
        </p:nvSpPr>
        <p:spPr/>
        <p:txBody>
          <a:bodyPr/>
          <a:lstStyle/>
          <a:p>
            <a:fld id="{A19B21B2-AF4C-4C1D-B654-6942D80316DC}" type="datetime1">
              <a:rPr lang="ru-RU" smtClean="0"/>
              <a:t>27.12.2025</a:t>
            </a:fld>
            <a:endParaRPr lang="ru-RU"/>
          </a:p>
        </p:txBody>
      </p:sp>
      <p:sp>
        <p:nvSpPr>
          <p:cNvPr id="5" name="Нижний колонтитул 4">
            <a:extLst>
              <a:ext uri="{FF2B5EF4-FFF2-40B4-BE49-F238E27FC236}">
                <a16:creationId xmlns:a16="http://schemas.microsoft.com/office/drawing/2014/main" id="{E28A0C0A-E49C-3701-3F1D-A16AE4FEFC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0CF2EFE-1316-9937-893C-AEF3ACE91029}"/>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194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B3FD90-3A06-6EDD-09AA-67A7D6A5620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963343F-1856-3FC0-2FE5-224687A8A52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6D2304A2-A8AB-49EA-813E-B899E3E3886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058E7F94-673A-5908-F2A7-B5A0A4C0AC7D}"/>
              </a:ext>
            </a:extLst>
          </p:cNvPr>
          <p:cNvSpPr>
            <a:spLocks noGrp="1"/>
          </p:cNvSpPr>
          <p:nvPr>
            <p:ph type="dt" sz="half" idx="10"/>
          </p:nvPr>
        </p:nvSpPr>
        <p:spPr/>
        <p:txBody>
          <a:bodyPr/>
          <a:lstStyle/>
          <a:p>
            <a:fld id="{BB90A988-3DCC-48BA-B085-E11FEC620045}" type="datetime1">
              <a:rPr lang="ru-RU" smtClean="0"/>
              <a:t>27.12.2025</a:t>
            </a:fld>
            <a:endParaRPr lang="ru-RU"/>
          </a:p>
        </p:txBody>
      </p:sp>
      <p:sp>
        <p:nvSpPr>
          <p:cNvPr id="6" name="Нижний колонтитул 5">
            <a:extLst>
              <a:ext uri="{FF2B5EF4-FFF2-40B4-BE49-F238E27FC236}">
                <a16:creationId xmlns:a16="http://schemas.microsoft.com/office/drawing/2014/main" id="{F59D10C7-CCB7-074E-BBF1-62FDCE5847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4DC28F4-3DD1-0930-418F-9261A9172FC8}"/>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366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E7DCA2-93E3-4A8F-E375-B263513008F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250B223-5A46-1B7F-2518-B1695E29B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E6FDC1E-0D03-43F8-3BE8-791DAEFCE61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B752D2D-049E-6875-C4A0-78DF105A0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FAF88B04-52FC-A4C7-222E-5E445B22FD1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61B40C4A-AD29-81C2-4B4C-A34A3EEA8771}"/>
              </a:ext>
            </a:extLst>
          </p:cNvPr>
          <p:cNvSpPr>
            <a:spLocks noGrp="1"/>
          </p:cNvSpPr>
          <p:nvPr>
            <p:ph type="dt" sz="half" idx="10"/>
          </p:nvPr>
        </p:nvSpPr>
        <p:spPr/>
        <p:txBody>
          <a:bodyPr/>
          <a:lstStyle/>
          <a:p>
            <a:fld id="{F2D66196-9DF1-4202-9D2E-867970920045}" type="datetime1">
              <a:rPr lang="ru-RU" smtClean="0"/>
              <a:t>27.12.2025</a:t>
            </a:fld>
            <a:endParaRPr lang="ru-RU"/>
          </a:p>
        </p:txBody>
      </p:sp>
      <p:sp>
        <p:nvSpPr>
          <p:cNvPr id="8" name="Нижний колонтитул 7">
            <a:extLst>
              <a:ext uri="{FF2B5EF4-FFF2-40B4-BE49-F238E27FC236}">
                <a16:creationId xmlns:a16="http://schemas.microsoft.com/office/drawing/2014/main" id="{9C8F5526-7555-0A36-D599-DB2C93979F0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6DECF9A-0E2A-8864-A192-91025021B9B0}"/>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609636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25DB98-A5B5-3438-3616-DF66F3DAC33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170717A-616B-3B17-373F-3F866473E676}"/>
              </a:ext>
            </a:extLst>
          </p:cNvPr>
          <p:cNvSpPr>
            <a:spLocks noGrp="1"/>
          </p:cNvSpPr>
          <p:nvPr>
            <p:ph type="dt" sz="half" idx="10"/>
          </p:nvPr>
        </p:nvSpPr>
        <p:spPr/>
        <p:txBody>
          <a:bodyPr/>
          <a:lstStyle/>
          <a:p>
            <a:fld id="{CA53E134-2CD5-4567-9F06-826EE3BC0238}" type="datetime1">
              <a:rPr lang="ru-RU" smtClean="0"/>
              <a:t>27.12.2025</a:t>
            </a:fld>
            <a:endParaRPr lang="ru-RU"/>
          </a:p>
        </p:txBody>
      </p:sp>
      <p:sp>
        <p:nvSpPr>
          <p:cNvPr id="4" name="Нижний колонтитул 3">
            <a:extLst>
              <a:ext uri="{FF2B5EF4-FFF2-40B4-BE49-F238E27FC236}">
                <a16:creationId xmlns:a16="http://schemas.microsoft.com/office/drawing/2014/main" id="{EF9C2CB1-2633-0F01-61F4-D821EB2EB4C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B34473C-F1C2-7452-CA68-4B736EC2687A}"/>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96137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1B7CACC-DF26-B62A-AD80-9CF8CDD9C1E1}"/>
              </a:ext>
            </a:extLst>
          </p:cNvPr>
          <p:cNvSpPr>
            <a:spLocks noGrp="1"/>
          </p:cNvSpPr>
          <p:nvPr>
            <p:ph type="dt" sz="half" idx="10"/>
          </p:nvPr>
        </p:nvSpPr>
        <p:spPr/>
        <p:txBody>
          <a:bodyPr/>
          <a:lstStyle/>
          <a:p>
            <a:fld id="{F7EBC838-7ECD-4C30-AE0C-A835B49D7805}" type="datetime1">
              <a:rPr lang="ru-RU" smtClean="0"/>
              <a:t>27.12.2025</a:t>
            </a:fld>
            <a:endParaRPr lang="ru-RU"/>
          </a:p>
        </p:txBody>
      </p:sp>
      <p:sp>
        <p:nvSpPr>
          <p:cNvPr id="3" name="Нижний колонтитул 2">
            <a:extLst>
              <a:ext uri="{FF2B5EF4-FFF2-40B4-BE49-F238E27FC236}">
                <a16:creationId xmlns:a16="http://schemas.microsoft.com/office/drawing/2014/main" id="{0B6EC42A-449A-823F-419D-3907F1F07CD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91BA030-F1E0-FE9F-D717-74821A5432D4}"/>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20996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4A86C9-5C65-B65D-425F-DE3113E116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E5084B0-1F47-AAE3-0198-4E63A45CC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8160BF8-1A7A-B36F-50A5-3998B09E9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48F8D2F-7724-1061-E98D-9E231407B1E6}"/>
              </a:ext>
            </a:extLst>
          </p:cNvPr>
          <p:cNvSpPr>
            <a:spLocks noGrp="1"/>
          </p:cNvSpPr>
          <p:nvPr>
            <p:ph type="dt" sz="half" idx="10"/>
          </p:nvPr>
        </p:nvSpPr>
        <p:spPr/>
        <p:txBody>
          <a:bodyPr/>
          <a:lstStyle/>
          <a:p>
            <a:fld id="{64928F8F-C832-4BB9-9E27-DFB7F7279940}" type="datetime1">
              <a:rPr lang="ru-RU" smtClean="0"/>
              <a:t>27.12.2025</a:t>
            </a:fld>
            <a:endParaRPr lang="ru-RU"/>
          </a:p>
        </p:txBody>
      </p:sp>
      <p:sp>
        <p:nvSpPr>
          <p:cNvPr id="6" name="Нижний колонтитул 5">
            <a:extLst>
              <a:ext uri="{FF2B5EF4-FFF2-40B4-BE49-F238E27FC236}">
                <a16:creationId xmlns:a16="http://schemas.microsoft.com/office/drawing/2014/main" id="{962CD5AB-4E05-098A-0C4E-32CF1BDDF4F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0355C40-5D02-2C51-A75F-95A7840994B9}"/>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51119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956929-FD75-C0AE-7C5C-C6456727FA0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35B8921-5168-4761-240F-1F2D4296DD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89AE9BF-D85D-484B-3084-2BB43B9DF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DC30992-2BD0-C25C-D77B-DDDD95DF24C5}"/>
              </a:ext>
            </a:extLst>
          </p:cNvPr>
          <p:cNvSpPr>
            <a:spLocks noGrp="1"/>
          </p:cNvSpPr>
          <p:nvPr>
            <p:ph type="dt" sz="half" idx="10"/>
          </p:nvPr>
        </p:nvSpPr>
        <p:spPr/>
        <p:txBody>
          <a:bodyPr/>
          <a:lstStyle/>
          <a:p>
            <a:fld id="{E97B99C6-5175-406D-8CBE-846BFE15651D}" type="datetime1">
              <a:rPr lang="ru-RU" smtClean="0"/>
              <a:t>27.12.2025</a:t>
            </a:fld>
            <a:endParaRPr lang="ru-RU"/>
          </a:p>
        </p:txBody>
      </p:sp>
      <p:sp>
        <p:nvSpPr>
          <p:cNvPr id="6" name="Нижний колонтитул 5">
            <a:extLst>
              <a:ext uri="{FF2B5EF4-FFF2-40B4-BE49-F238E27FC236}">
                <a16:creationId xmlns:a16="http://schemas.microsoft.com/office/drawing/2014/main" id="{3C71DED5-75B2-472E-7970-EEBC35C47DC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ACE7235-A1FA-507C-BDA3-FF60840C1AC8}"/>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9023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522671-5997-B3F0-1CF5-FE693B6F6FB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0C58ABE-0AA1-5035-CC95-C31EA7DECF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36E4E59-08D4-3F97-A481-26A03B87E8FA}"/>
              </a:ext>
            </a:extLst>
          </p:cNvPr>
          <p:cNvSpPr>
            <a:spLocks noGrp="1"/>
          </p:cNvSpPr>
          <p:nvPr>
            <p:ph type="dt" sz="half" idx="10"/>
          </p:nvPr>
        </p:nvSpPr>
        <p:spPr/>
        <p:txBody>
          <a:bodyPr/>
          <a:lstStyle/>
          <a:p>
            <a:fld id="{BAC8ACC6-3B17-4B1C-BE3B-6841AA446409}" type="datetime1">
              <a:rPr lang="ru-RU" smtClean="0"/>
              <a:t>27.12.2025</a:t>
            </a:fld>
            <a:endParaRPr lang="ru-RU"/>
          </a:p>
        </p:txBody>
      </p:sp>
      <p:sp>
        <p:nvSpPr>
          <p:cNvPr id="5" name="Нижний колонтитул 4">
            <a:extLst>
              <a:ext uri="{FF2B5EF4-FFF2-40B4-BE49-F238E27FC236}">
                <a16:creationId xmlns:a16="http://schemas.microsoft.com/office/drawing/2014/main" id="{43612C97-AD20-9B74-1D9E-20E6D0AF0A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3DBA50A-CF5D-F52F-ADFD-E27A8EC011E7}"/>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01772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728371-BBF1-C052-5C83-60B90C18984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F90CBDC-54AC-0F04-BFCF-D191D5AE2DF0}"/>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78DCFD-149E-564A-688C-62291B7370B9}"/>
              </a:ext>
            </a:extLst>
          </p:cNvPr>
          <p:cNvSpPr>
            <a:spLocks noGrp="1"/>
          </p:cNvSpPr>
          <p:nvPr>
            <p:ph type="dt" sz="half" idx="10"/>
          </p:nvPr>
        </p:nvSpPr>
        <p:spPr/>
        <p:txBody>
          <a:bodyPr/>
          <a:lstStyle/>
          <a:p>
            <a:fld id="{991CBEA3-E456-4FAD-9C16-9F2655B37ED7}" type="datetime1">
              <a:rPr lang="ru-RU" smtClean="0"/>
              <a:t>27.12.2025</a:t>
            </a:fld>
            <a:endParaRPr lang="ru-RU"/>
          </a:p>
        </p:txBody>
      </p:sp>
      <p:sp>
        <p:nvSpPr>
          <p:cNvPr id="5" name="Нижний колонтитул 4">
            <a:extLst>
              <a:ext uri="{FF2B5EF4-FFF2-40B4-BE49-F238E27FC236}">
                <a16:creationId xmlns:a16="http://schemas.microsoft.com/office/drawing/2014/main" id="{375F0560-6883-F96E-16B1-C6C143DD62D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E259203-947D-2A0B-2F17-691028A54C8E}"/>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7825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73F10A-1CBC-F46A-8ACA-52DEEE23C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D2AAE10-3298-EBED-1AAB-4FC5956784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F2D3DF7-F658-A4E6-AC36-CFE6343722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35449B-60AC-481D-BF5C-D674EF423314}" type="datetime1">
              <a:rPr lang="ru-RU" smtClean="0"/>
              <a:t>27.12.2025</a:t>
            </a:fld>
            <a:endParaRPr lang="ru-RU"/>
          </a:p>
        </p:txBody>
      </p:sp>
      <p:sp>
        <p:nvSpPr>
          <p:cNvPr id="5" name="Нижний колонтитул 4">
            <a:extLst>
              <a:ext uri="{FF2B5EF4-FFF2-40B4-BE49-F238E27FC236}">
                <a16:creationId xmlns:a16="http://schemas.microsoft.com/office/drawing/2014/main" id="{6ED00B84-0413-2BF8-AAE6-2D3092BE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EAD3A335-BD73-C78E-0328-9E641CD68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D4B0C-12DF-447C-B791-E379AA958CE7}" type="slidenum">
              <a:rPr lang="ru-RU" smtClean="0"/>
              <a:t>‹#›</a:t>
            </a:fld>
            <a:endParaRPr lang="ru-RU"/>
          </a:p>
        </p:txBody>
      </p:sp>
    </p:spTree>
    <p:extLst>
      <p:ext uri="{BB962C8B-B14F-4D97-AF65-F5344CB8AC3E}">
        <p14:creationId xmlns:p14="http://schemas.microsoft.com/office/powerpoint/2010/main" val="2175367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drive/1dWGbhQ97UN1bncR7BZAvDz-YASwAG7Sr?usp=sharing" TargetMode="External"/><Relationship Id="rId2" Type="http://schemas.openxmlformats.org/officeDocument/2006/relationships/hyperlink" Target="https://colab.research.google.com/drive/1mQ5KRz3XkmvkprC_dfq7tHzK4dp0AFor?usp=sharing" TargetMode="External"/><Relationship Id="rId1" Type="http://schemas.openxmlformats.org/officeDocument/2006/relationships/slideLayout" Target="../slideLayouts/slideLayout2.xml"/><Relationship Id="rId5" Type="http://schemas.openxmlformats.org/officeDocument/2006/relationships/hyperlink" Target="https://colab.research.google.com/drive/1TTJNQmttbS2xQ7_dYL3WrGS0JOsEY894?usp=sharing" TargetMode="External"/><Relationship Id="rId4" Type="http://schemas.openxmlformats.org/officeDocument/2006/relationships/hyperlink" Target="https://colab.research.google.com/drive/1wnbkAzdBp69xCev4Lk1x1KKTnT7d0NRT?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docs.unsloth.ai/basics/vision-fine-tun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colab.research.google.com/drive/1xK5CALh7frhbKLg5ICBAiHCSA-AvVfw4?usp=sharing" TargetMode="External"/><Relationship Id="rId2" Type="http://schemas.openxmlformats.org/officeDocument/2006/relationships/hyperlink" Target="https://colab.research.google.com/drive/10YxVSMICltPUkGD6R-Wj4EqTj0IbXRQn?usp=sharin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huggingface.co/learn/diffusion-course/unit0/1" TargetMode="External"/><Relationship Id="rId3" Type="http://schemas.openxmlformats.org/officeDocument/2006/relationships/hyperlink" Target="https://arxiv.org/pdf/2312.10393" TargetMode="External"/><Relationship Id="rId7" Type="http://schemas.openxmlformats.org/officeDocument/2006/relationships/hyperlink" Target="https://learnopencv.com/denoising-diffusion-probabilistic-models/" TargetMode="External"/><Relationship Id="rId2" Type="http://schemas.openxmlformats.org/officeDocument/2006/relationships/hyperlink" Target="https://hal.science/hal-04642649/document" TargetMode="External"/><Relationship Id="rId1" Type="http://schemas.openxmlformats.org/officeDocument/2006/relationships/slideLayout" Target="../slideLayouts/slideLayout2.xml"/><Relationship Id="rId6" Type="http://schemas.openxmlformats.org/officeDocument/2006/relationships/hyperlink" Target="https://lilianweng.github.io/posts/2021-07-11-diffusion-models/" TargetMode="External"/><Relationship Id="rId5" Type="http://schemas.openxmlformats.org/officeDocument/2006/relationships/hyperlink" Target="https://theaisummer.com/diffusion-models/" TargetMode="External"/><Relationship Id="rId4" Type="http://schemas.openxmlformats.org/officeDocument/2006/relationships/hyperlink" Target="https://arxiv.org/pdf/2006.112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AE178-3CA4-4E38-452D-6CA5374C3301}"/>
              </a:ext>
            </a:extLst>
          </p:cNvPr>
          <p:cNvSpPr>
            <a:spLocks noGrp="1"/>
          </p:cNvSpPr>
          <p:nvPr>
            <p:ph type="ctrTitle"/>
          </p:nvPr>
        </p:nvSpPr>
        <p:spPr>
          <a:xfrm>
            <a:off x="1524000" y="1887952"/>
            <a:ext cx="9144000" cy="2387600"/>
          </a:xfrm>
        </p:spPr>
        <p:txBody>
          <a:bodyPr>
            <a:normAutofit/>
          </a:bodyPr>
          <a:lstStyle/>
          <a:p>
            <a:r>
              <a:rPr lang="ru-RU" sz="4400" dirty="0">
                <a:latin typeface="Arial" panose="020B0604020202020204" pitchFamily="34" charset="0"/>
                <a:cs typeface="Arial" panose="020B0604020202020204" pitchFamily="34" charset="0"/>
              </a:rPr>
              <a:t>Нейросетевые решения для </a:t>
            </a:r>
            <a:r>
              <a:rPr lang="en-US" sz="4400" dirty="0">
                <a:latin typeface="Arial" panose="020B0604020202020204" pitchFamily="34" charset="0"/>
                <a:cs typeface="Arial" panose="020B0604020202020204" pitchFamily="34" charset="0"/>
              </a:rPr>
              <a:t>CV</a:t>
            </a:r>
            <a:br>
              <a:rPr lang="en-US" sz="4400" dirty="0">
                <a:latin typeface="Arial" panose="020B0604020202020204" pitchFamily="34" charset="0"/>
                <a:cs typeface="Arial" panose="020B0604020202020204" pitchFamily="34" charset="0"/>
              </a:rPr>
            </a:br>
            <a:r>
              <a:rPr lang="en-US" sz="4400" dirty="0">
                <a:latin typeface="Arial" panose="020B0604020202020204" pitchFamily="34" charset="0"/>
                <a:cs typeface="Arial" panose="020B0604020202020204" pitchFamily="34" charset="0"/>
              </a:rPr>
              <a:t>Vision Large Models (VLM)</a:t>
            </a:r>
            <a:br>
              <a:rPr lang="ru-RU" sz="4400" dirty="0">
                <a:latin typeface="Arial" panose="020B0604020202020204" pitchFamily="34" charset="0"/>
                <a:cs typeface="Arial" panose="020B0604020202020204" pitchFamily="34" charset="0"/>
              </a:rPr>
            </a:br>
            <a:r>
              <a:rPr lang="ru-RU" sz="4400" dirty="0">
                <a:latin typeface="Arial" panose="020B0604020202020204" pitchFamily="34" charset="0"/>
                <a:cs typeface="Arial" panose="020B0604020202020204" pitchFamily="34" charset="0"/>
              </a:rPr>
              <a:t>Диффузионные модели</a:t>
            </a:r>
          </a:p>
        </p:txBody>
      </p:sp>
    </p:spTree>
    <p:extLst>
      <p:ext uri="{BB962C8B-B14F-4D97-AF65-F5344CB8AC3E}">
        <p14:creationId xmlns:p14="http://schemas.microsoft.com/office/powerpoint/2010/main" val="5810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BB30-CB76-0297-229F-8B885AB6641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B435AD-D430-D327-9542-FDA3F26C2696}"/>
              </a:ext>
            </a:extLst>
          </p:cNvPr>
          <p:cNvSpPr>
            <a:spLocks noGrp="1"/>
          </p:cNvSpPr>
          <p:nvPr>
            <p:ph type="ctrTitle"/>
          </p:nvPr>
        </p:nvSpPr>
        <p:spPr/>
        <p:txBody>
          <a:bodyPr>
            <a:normAutofit/>
          </a:bodyPr>
          <a:lstStyle/>
          <a:p>
            <a:r>
              <a:rPr lang="ru-RU" sz="4400" dirty="0">
                <a:latin typeface="Arial" panose="020B0604020202020204" pitchFamily="34" charset="0"/>
                <a:cs typeface="Arial" panose="020B0604020202020204" pitchFamily="34" charset="0"/>
              </a:rPr>
              <a:t>Нейросетевые решения для </a:t>
            </a:r>
            <a:r>
              <a:rPr lang="en-US" sz="4400" dirty="0">
                <a:latin typeface="Arial" panose="020B0604020202020204" pitchFamily="34" charset="0"/>
                <a:cs typeface="Arial" panose="020B0604020202020204" pitchFamily="34" charset="0"/>
              </a:rPr>
              <a:t>CV</a:t>
            </a:r>
            <a:endParaRPr lang="ru-RU" sz="4400" dirty="0">
              <a:latin typeface="Arial" panose="020B0604020202020204" pitchFamily="34" charset="0"/>
              <a:cs typeface="Arial" panose="020B0604020202020204" pitchFamily="34" charset="0"/>
            </a:endParaRPr>
          </a:p>
        </p:txBody>
      </p:sp>
      <p:sp>
        <p:nvSpPr>
          <p:cNvPr id="4" name="Номер слайда 3">
            <a:extLst>
              <a:ext uri="{FF2B5EF4-FFF2-40B4-BE49-F238E27FC236}">
                <a16:creationId xmlns:a16="http://schemas.microsoft.com/office/drawing/2014/main" id="{37D14F3D-F8ED-6D9E-8A18-5B8A1E9E41F6}"/>
              </a:ext>
            </a:extLst>
          </p:cNvPr>
          <p:cNvSpPr>
            <a:spLocks noGrp="1"/>
          </p:cNvSpPr>
          <p:nvPr>
            <p:ph type="sldNum" sz="quarter" idx="12"/>
          </p:nvPr>
        </p:nvSpPr>
        <p:spPr/>
        <p:txBody>
          <a:bodyPr/>
          <a:lstStyle/>
          <a:p>
            <a:fld id="{818D4B0C-12DF-447C-B791-E379AA958CE7}" type="slidenum">
              <a:rPr lang="ru-RU" smtClean="0"/>
              <a:pPr/>
              <a:t>2</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4951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a:t>
            </a:r>
            <a:r>
              <a:rPr lang="ru-RU" sz="4000" dirty="0">
                <a:latin typeface="Arial" panose="020B0604020202020204" pitchFamily="34" charset="0"/>
                <a:cs typeface="Arial" panose="020B0604020202020204" pitchFamily="34" charset="0"/>
              </a:rPr>
              <a:t>классификация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CLIP</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id="{4024D4FE-A0E9-8C74-98A6-9A4E20884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51685"/>
            <a:ext cx="12192000" cy="4297363"/>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6FEED642-5536-146A-F782-9895CED1CCE6}"/>
              </a:ext>
            </a:extLst>
          </p:cNvPr>
          <p:cNvSpPr>
            <a:spLocks noGrp="1"/>
          </p:cNvSpPr>
          <p:nvPr>
            <p:ph type="sldNum" sz="quarter" idx="12"/>
          </p:nvPr>
        </p:nvSpPr>
        <p:spPr/>
        <p:txBody>
          <a:bodyPr/>
          <a:lstStyle/>
          <a:p>
            <a:fld id="{818D4B0C-12DF-447C-B791-E379AA958CE7}" type="slidenum">
              <a:rPr lang="ru-RU" smtClean="0"/>
              <a:pPr/>
              <a:t>3</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9502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a:t>
            </a:r>
            <a:r>
              <a:rPr lang="ru-RU" sz="4000" dirty="0">
                <a:latin typeface="Arial" panose="020B0604020202020204" pitchFamily="34" charset="0"/>
                <a:cs typeface="Arial" panose="020B0604020202020204" pitchFamily="34" charset="0"/>
              </a:rPr>
              <a:t>детекция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Grounding DINO</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1026" name="Picture 2" descr="drawing">
            <a:extLst>
              <a:ext uri="{FF2B5EF4-FFF2-40B4-BE49-F238E27FC236}">
                <a16:creationId xmlns:a16="http://schemas.microsoft.com/office/drawing/2014/main" id="{8BDB3FD1-14B7-7A0A-6E87-273951783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8964" y="1834128"/>
            <a:ext cx="8454072" cy="4952752"/>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503CEBFD-4082-B6FC-65C7-6B0BA4A40B50}"/>
              </a:ext>
            </a:extLst>
          </p:cNvPr>
          <p:cNvSpPr>
            <a:spLocks noGrp="1"/>
          </p:cNvSpPr>
          <p:nvPr>
            <p:ph type="sldNum" sz="quarter" idx="12"/>
          </p:nvPr>
        </p:nvSpPr>
        <p:spPr/>
        <p:txBody>
          <a:bodyPr/>
          <a:lstStyle/>
          <a:p>
            <a:fld id="{818D4B0C-12DF-447C-B791-E379AA958CE7}" type="slidenum">
              <a:rPr lang="ru-RU" smtClean="0"/>
              <a:pPr/>
              <a:t>4</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864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9A345D8-0773-57DF-36BF-98E5BF4F7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53200"/>
            <a:ext cx="12192000" cy="5000625"/>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a:t>
            </a:r>
            <a:r>
              <a:rPr lang="ru-RU" sz="4000" dirty="0">
                <a:latin typeface="Arial" panose="020B0604020202020204" pitchFamily="34" charset="0"/>
                <a:cs typeface="Arial" panose="020B0604020202020204" pitchFamily="34" charset="0"/>
              </a:rPr>
              <a:t>детекция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YOLO-World</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sp>
        <p:nvSpPr>
          <p:cNvPr id="2" name="Номер слайда 1">
            <a:extLst>
              <a:ext uri="{FF2B5EF4-FFF2-40B4-BE49-F238E27FC236}">
                <a16:creationId xmlns:a16="http://schemas.microsoft.com/office/drawing/2014/main" id="{ADC2750A-82B1-242E-4DA0-2CCEC06BBE34}"/>
              </a:ext>
            </a:extLst>
          </p:cNvPr>
          <p:cNvSpPr>
            <a:spLocks noGrp="1"/>
          </p:cNvSpPr>
          <p:nvPr>
            <p:ph type="sldNum" sz="quarter" idx="12"/>
          </p:nvPr>
        </p:nvSpPr>
        <p:spPr/>
        <p:txBody>
          <a:bodyPr/>
          <a:lstStyle/>
          <a:p>
            <a:fld id="{818D4B0C-12DF-447C-B791-E379AA958CE7}" type="slidenum">
              <a:rPr lang="ru-RU" smtClean="0"/>
              <a:pPr/>
              <a:t>5</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6386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CLIPSeg</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3" name="Рисунок 2">
            <a:extLst>
              <a:ext uri="{FF2B5EF4-FFF2-40B4-BE49-F238E27FC236}">
                <a16:creationId xmlns:a16="http://schemas.microsoft.com/office/drawing/2014/main" id="{2C90618B-98B3-07D9-4D0F-F9DBE94A1958}"/>
              </a:ext>
            </a:extLst>
          </p:cNvPr>
          <p:cNvPicPr>
            <a:picLocks noChangeAspect="1"/>
          </p:cNvPicPr>
          <p:nvPr/>
        </p:nvPicPr>
        <p:blipFill>
          <a:blip r:embed="rId2"/>
          <a:stretch>
            <a:fillRect/>
          </a:stretch>
        </p:blipFill>
        <p:spPr>
          <a:xfrm>
            <a:off x="2066925" y="2383472"/>
            <a:ext cx="8058150" cy="3228975"/>
          </a:xfrm>
          <a:prstGeom prst="rect">
            <a:avLst/>
          </a:prstGeom>
        </p:spPr>
      </p:pic>
      <p:sp>
        <p:nvSpPr>
          <p:cNvPr id="2" name="Номер слайда 1">
            <a:extLst>
              <a:ext uri="{FF2B5EF4-FFF2-40B4-BE49-F238E27FC236}">
                <a16:creationId xmlns:a16="http://schemas.microsoft.com/office/drawing/2014/main" id="{4A854FF9-C8AF-861F-9A87-7A5BCD4CEEBB}"/>
              </a:ext>
            </a:extLst>
          </p:cNvPr>
          <p:cNvSpPr>
            <a:spLocks noGrp="1"/>
          </p:cNvSpPr>
          <p:nvPr>
            <p:ph type="sldNum" sz="quarter" idx="12"/>
          </p:nvPr>
        </p:nvSpPr>
        <p:spPr/>
        <p:txBody>
          <a:bodyPr/>
          <a:lstStyle/>
          <a:p>
            <a:fld id="{818D4B0C-12DF-447C-B791-E379AA958CE7}" type="slidenum">
              <a:rPr lang="ru-RU" smtClean="0"/>
              <a:pPr/>
              <a:t>6</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375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CLIPSeg</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3" name="Рисунок 2">
            <a:extLst>
              <a:ext uri="{FF2B5EF4-FFF2-40B4-BE49-F238E27FC236}">
                <a16:creationId xmlns:a16="http://schemas.microsoft.com/office/drawing/2014/main" id="{9C3B1F5E-951D-B6DE-CDAA-EB8532D70A84}"/>
              </a:ext>
            </a:extLst>
          </p:cNvPr>
          <p:cNvPicPr>
            <a:picLocks noChangeAspect="1"/>
          </p:cNvPicPr>
          <p:nvPr/>
        </p:nvPicPr>
        <p:blipFill>
          <a:blip r:embed="rId2"/>
          <a:stretch>
            <a:fillRect/>
          </a:stretch>
        </p:blipFill>
        <p:spPr>
          <a:xfrm>
            <a:off x="0" y="1985948"/>
            <a:ext cx="12192000" cy="4389783"/>
          </a:xfrm>
          <a:prstGeom prst="rect">
            <a:avLst/>
          </a:prstGeom>
        </p:spPr>
      </p:pic>
      <p:sp>
        <p:nvSpPr>
          <p:cNvPr id="2" name="Номер слайда 1">
            <a:extLst>
              <a:ext uri="{FF2B5EF4-FFF2-40B4-BE49-F238E27FC236}">
                <a16:creationId xmlns:a16="http://schemas.microsoft.com/office/drawing/2014/main" id="{8BD3F4D7-C26B-22B2-880A-8A64D12D2FB6}"/>
              </a:ext>
            </a:extLst>
          </p:cNvPr>
          <p:cNvSpPr>
            <a:spLocks noGrp="1"/>
          </p:cNvSpPr>
          <p:nvPr>
            <p:ph type="sldNum" sz="quarter" idx="12"/>
          </p:nvPr>
        </p:nvSpPr>
        <p:spPr/>
        <p:txBody>
          <a:bodyPr/>
          <a:lstStyle/>
          <a:p>
            <a:fld id="{818D4B0C-12DF-447C-B791-E379AA958CE7}" type="slidenum">
              <a:rPr lang="ru-RU" smtClean="0"/>
              <a:pPr/>
              <a:t>7</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1059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Интерактивная</a:t>
            </a:r>
            <a:r>
              <a:rPr lang="en-US" sz="4000" dirty="0">
                <a:latin typeface="Arial" panose="020B0604020202020204" pitchFamily="34" charset="0"/>
                <a:cs typeface="Arial" panose="020B0604020202020204" pitchFamily="34" charset="0"/>
              </a:rPr>
              <a:t>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Segment Anything Model (SAM)</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4" name="Рисунок 3">
            <a:extLst>
              <a:ext uri="{FF2B5EF4-FFF2-40B4-BE49-F238E27FC236}">
                <a16:creationId xmlns:a16="http://schemas.microsoft.com/office/drawing/2014/main" id="{D18191BA-117F-4B6C-92C2-C65BEC90916F}"/>
              </a:ext>
            </a:extLst>
          </p:cNvPr>
          <p:cNvPicPr>
            <a:picLocks noChangeAspect="1"/>
          </p:cNvPicPr>
          <p:nvPr/>
        </p:nvPicPr>
        <p:blipFill>
          <a:blip r:embed="rId2"/>
          <a:stretch>
            <a:fillRect/>
          </a:stretch>
        </p:blipFill>
        <p:spPr>
          <a:xfrm>
            <a:off x="0" y="2539274"/>
            <a:ext cx="12192000" cy="2612571"/>
          </a:xfrm>
          <a:prstGeom prst="rect">
            <a:avLst/>
          </a:prstGeom>
        </p:spPr>
      </p:pic>
      <p:sp>
        <p:nvSpPr>
          <p:cNvPr id="2" name="Номер слайда 1">
            <a:extLst>
              <a:ext uri="{FF2B5EF4-FFF2-40B4-BE49-F238E27FC236}">
                <a16:creationId xmlns:a16="http://schemas.microsoft.com/office/drawing/2014/main" id="{018102A8-F8E3-C151-D098-F03E8D10069B}"/>
              </a:ext>
            </a:extLst>
          </p:cNvPr>
          <p:cNvSpPr>
            <a:spLocks noGrp="1"/>
          </p:cNvSpPr>
          <p:nvPr>
            <p:ph type="sldNum" sz="quarter" idx="12"/>
          </p:nvPr>
        </p:nvSpPr>
        <p:spPr/>
        <p:txBody>
          <a:bodyPr/>
          <a:lstStyle/>
          <a:p>
            <a:fld id="{818D4B0C-12DF-447C-B791-E379AA958CE7}" type="slidenum">
              <a:rPr lang="ru-RU" smtClean="0"/>
              <a:pPr/>
              <a:t>8</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3655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Интерактивная</a:t>
            </a:r>
            <a:r>
              <a:rPr lang="en-US" sz="4000" dirty="0">
                <a:latin typeface="Arial" panose="020B0604020202020204" pitchFamily="34" charset="0"/>
                <a:cs typeface="Arial" panose="020B0604020202020204" pitchFamily="34" charset="0"/>
              </a:rPr>
              <a:t>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Segment Anything Model 2 (SAM2)</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7170" name="Picture 2" descr="SAM 2 Архитектурная диаграмма">
            <a:extLst>
              <a:ext uri="{FF2B5EF4-FFF2-40B4-BE49-F238E27FC236}">
                <a16:creationId xmlns:a16="http://schemas.microsoft.com/office/drawing/2014/main" id="{2B3E7662-AD6F-38AE-E339-E7A97D421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90140"/>
            <a:ext cx="12192000" cy="3071813"/>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D955933C-B612-7A4B-D379-B93AA94CEBFD}"/>
              </a:ext>
            </a:extLst>
          </p:cNvPr>
          <p:cNvSpPr>
            <a:spLocks noGrp="1"/>
          </p:cNvSpPr>
          <p:nvPr>
            <p:ph type="sldNum" sz="quarter" idx="12"/>
          </p:nvPr>
        </p:nvSpPr>
        <p:spPr/>
        <p:txBody>
          <a:bodyPr/>
          <a:lstStyle/>
          <a:p>
            <a:fld id="{818D4B0C-12DF-447C-B791-E379AA958CE7}" type="slidenum">
              <a:rPr lang="ru-RU" smtClean="0"/>
              <a:pPr/>
              <a:t>9</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671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7594-5EB9-52B9-1253-4A63A012E60B}"/>
            </a:ext>
          </a:extLst>
        </p:cNvPr>
        <p:cNvGrpSpPr/>
        <p:nvPr/>
      </p:nvGrpSpPr>
      <p:grpSpPr>
        <a:xfrm>
          <a:off x="0" y="0"/>
          <a:ext cx="0" cy="0"/>
          <a:chOff x="0" y="0"/>
          <a:chExt cx="0" cy="0"/>
        </a:xfrm>
      </p:grpSpPr>
      <p:sp>
        <p:nvSpPr>
          <p:cNvPr id="8" name="Заголовок 1">
            <a:extLst>
              <a:ext uri="{FF2B5EF4-FFF2-40B4-BE49-F238E27FC236}">
                <a16:creationId xmlns:a16="http://schemas.microsoft.com/office/drawing/2014/main" id="{EFA21BDE-6566-C8FD-E24C-050CC360E3A2}"/>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Segment Anything Model 3 (SAM3)</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5418971E-5BA5-45E5-AC30-DD3E1DFAF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992" y="1855486"/>
            <a:ext cx="9992017" cy="5002514"/>
          </a:xfrm>
          <a:prstGeom prst="rect">
            <a:avLst/>
          </a:prstGeom>
          <a:noFill/>
          <a:extLst>
            <a:ext uri="{909E8E84-426E-40DD-AFC4-6F175D3DCCD1}">
              <a14:hiddenFill xmlns:a14="http://schemas.microsoft.com/office/drawing/2010/main">
                <a:solidFill>
                  <a:srgbClr val="FFFFFF"/>
                </a:solidFill>
              </a14:hiddenFill>
            </a:ext>
          </a:extLst>
        </p:spPr>
      </p:pic>
      <p:sp>
        <p:nvSpPr>
          <p:cNvPr id="5" name="Заголовок 1">
            <a:extLst>
              <a:ext uri="{FF2B5EF4-FFF2-40B4-BE49-F238E27FC236}">
                <a16:creationId xmlns:a16="http://schemas.microsoft.com/office/drawing/2014/main" id="{92F80186-D711-DE19-1799-F20B6213DE63}"/>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instance </a:t>
            </a:r>
            <a:r>
              <a:rPr lang="ru-RU" sz="4000" dirty="0">
                <a:latin typeface="Arial" panose="020B0604020202020204" pitchFamily="34" charset="0"/>
                <a:cs typeface="Arial" panose="020B0604020202020204" pitchFamily="34" charset="0"/>
              </a:rPr>
              <a:t>сегментация</a:t>
            </a:r>
          </a:p>
        </p:txBody>
      </p:sp>
      <p:sp>
        <p:nvSpPr>
          <p:cNvPr id="6" name="Номер слайда 5">
            <a:extLst>
              <a:ext uri="{FF2B5EF4-FFF2-40B4-BE49-F238E27FC236}">
                <a16:creationId xmlns:a16="http://schemas.microsoft.com/office/drawing/2014/main" id="{B894215F-8B54-81E3-EE2E-0FDA705212A2}"/>
              </a:ext>
            </a:extLst>
          </p:cNvPr>
          <p:cNvSpPr>
            <a:spLocks noGrp="1"/>
          </p:cNvSpPr>
          <p:nvPr>
            <p:ph type="sldNum" sz="quarter" idx="12"/>
          </p:nvPr>
        </p:nvSpPr>
        <p:spPr/>
        <p:txBody>
          <a:bodyPr/>
          <a:lstStyle/>
          <a:p>
            <a:fld id="{818D4B0C-12DF-447C-B791-E379AA958CE7}" type="slidenum">
              <a:rPr lang="ru-RU" smtClean="0"/>
              <a:pPr/>
              <a:t>10</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506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A587-E901-4D79-A30A-3523FDF3DEE8}"/>
            </a:ext>
          </a:extLst>
        </p:cNvPr>
        <p:cNvGrpSpPr/>
        <p:nvPr/>
      </p:nvGrpSpPr>
      <p:grpSpPr>
        <a:xfrm>
          <a:off x="0" y="0"/>
          <a:ext cx="0" cy="0"/>
          <a:chOff x="0" y="0"/>
          <a:chExt cx="0" cy="0"/>
        </a:xfrm>
      </p:grpSpPr>
      <p:sp>
        <p:nvSpPr>
          <p:cNvPr id="8" name="Заголовок 1">
            <a:extLst>
              <a:ext uri="{FF2B5EF4-FFF2-40B4-BE49-F238E27FC236}">
                <a16:creationId xmlns:a16="http://schemas.microsoft.com/office/drawing/2014/main" id="{07826416-2C3D-A486-712C-6DE85EF19124}"/>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Segment Anything Model 3 (SAM3)</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sp>
        <p:nvSpPr>
          <p:cNvPr id="5" name="Заголовок 1">
            <a:extLst>
              <a:ext uri="{FF2B5EF4-FFF2-40B4-BE49-F238E27FC236}">
                <a16:creationId xmlns:a16="http://schemas.microsoft.com/office/drawing/2014/main" id="{3D060B4B-35AB-2276-706A-9032748177FE}"/>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instance </a:t>
            </a:r>
            <a:r>
              <a:rPr lang="ru-RU" sz="4000" dirty="0">
                <a:latin typeface="Arial" panose="020B0604020202020204" pitchFamily="34" charset="0"/>
                <a:cs typeface="Arial" panose="020B0604020202020204" pitchFamily="34" charset="0"/>
              </a:rPr>
              <a:t>сегментация</a:t>
            </a:r>
          </a:p>
        </p:txBody>
      </p:sp>
      <p:graphicFrame>
        <p:nvGraphicFramePr>
          <p:cNvPr id="2" name="Таблица 1">
            <a:extLst>
              <a:ext uri="{FF2B5EF4-FFF2-40B4-BE49-F238E27FC236}">
                <a16:creationId xmlns:a16="http://schemas.microsoft.com/office/drawing/2014/main" id="{CBFFD4C8-562E-F2CE-9C76-877D27382C65}"/>
              </a:ext>
            </a:extLst>
          </p:cNvPr>
          <p:cNvGraphicFramePr>
            <a:graphicFrameLocks noGrp="1"/>
          </p:cNvGraphicFramePr>
          <p:nvPr>
            <p:extLst>
              <p:ext uri="{D42A27DB-BD31-4B8C-83A1-F6EECF244321}">
                <p14:modId xmlns:p14="http://schemas.microsoft.com/office/powerpoint/2010/main" val="2253449637"/>
              </p:ext>
            </p:extLst>
          </p:nvPr>
        </p:nvGraphicFramePr>
        <p:xfrm>
          <a:off x="2827144" y="2016125"/>
          <a:ext cx="6537712" cy="4532262"/>
        </p:xfrm>
        <a:graphic>
          <a:graphicData uri="http://schemas.openxmlformats.org/drawingml/2006/table">
            <a:tbl>
              <a:tblPr/>
              <a:tblGrid>
                <a:gridCol w="1634428">
                  <a:extLst>
                    <a:ext uri="{9D8B030D-6E8A-4147-A177-3AD203B41FA5}">
                      <a16:colId xmlns:a16="http://schemas.microsoft.com/office/drawing/2014/main" val="802802815"/>
                    </a:ext>
                  </a:extLst>
                </a:gridCol>
                <a:gridCol w="1634428">
                  <a:extLst>
                    <a:ext uri="{9D8B030D-6E8A-4147-A177-3AD203B41FA5}">
                      <a16:colId xmlns:a16="http://schemas.microsoft.com/office/drawing/2014/main" val="1902290213"/>
                    </a:ext>
                  </a:extLst>
                </a:gridCol>
                <a:gridCol w="1634428">
                  <a:extLst>
                    <a:ext uri="{9D8B030D-6E8A-4147-A177-3AD203B41FA5}">
                      <a16:colId xmlns:a16="http://schemas.microsoft.com/office/drawing/2014/main" val="1991723135"/>
                    </a:ext>
                  </a:extLst>
                </a:gridCol>
                <a:gridCol w="1634428">
                  <a:extLst>
                    <a:ext uri="{9D8B030D-6E8A-4147-A177-3AD203B41FA5}">
                      <a16:colId xmlns:a16="http://schemas.microsoft.com/office/drawing/2014/main" val="4220048513"/>
                    </a:ext>
                  </a:extLst>
                </a:gridCol>
              </a:tblGrid>
              <a:tr h="122573">
                <a:tc>
                  <a:txBody>
                    <a:bodyPr/>
                    <a:lstStyle/>
                    <a:p>
                      <a:pPr algn="l" fontAlgn="b">
                        <a:buNone/>
                      </a:pPr>
                      <a:r>
                        <a:rPr lang="en-US" sz="1200" b="1">
                          <a:solidFill>
                            <a:srgbClr val="111827"/>
                          </a:solidFill>
                          <a:effectLst/>
                          <a:latin typeface="Arial" panose="020B0604020202020204" pitchFamily="34" charset="0"/>
                          <a:cs typeface="Arial" panose="020B0604020202020204" pitchFamily="34" charset="0"/>
                        </a:rPr>
                        <a:t>Feature</a:t>
                      </a:r>
                    </a:p>
                  </a:txBody>
                  <a:tcPr marL="30643" marR="30643" marT="15322" marB="15322"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
                        <a:buNone/>
                      </a:pPr>
                      <a:r>
                        <a:rPr lang="en-US" sz="1200" b="1">
                          <a:solidFill>
                            <a:srgbClr val="111827"/>
                          </a:solidFill>
                          <a:effectLst/>
                          <a:latin typeface="Arial" panose="020B0604020202020204" pitchFamily="34" charset="0"/>
                          <a:cs typeface="Arial" panose="020B0604020202020204" pitchFamily="34" charset="0"/>
                        </a:rPr>
                        <a:t>SAM 1</a:t>
                      </a:r>
                    </a:p>
                  </a:txBody>
                  <a:tcPr marL="30643" marR="30643" marT="15322" marB="15322"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
                        <a:buNone/>
                      </a:pPr>
                      <a:r>
                        <a:rPr lang="en-US" sz="1200" b="1">
                          <a:solidFill>
                            <a:srgbClr val="111827"/>
                          </a:solidFill>
                          <a:effectLst/>
                          <a:latin typeface="Arial" panose="020B0604020202020204" pitchFamily="34" charset="0"/>
                          <a:cs typeface="Arial" panose="020B0604020202020204" pitchFamily="34" charset="0"/>
                        </a:rPr>
                        <a:t>SAM 2</a:t>
                      </a:r>
                    </a:p>
                  </a:txBody>
                  <a:tcPr marL="30643" marR="30643" marT="15322" marB="15322"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
                        <a:buNone/>
                      </a:pPr>
                      <a:r>
                        <a:rPr lang="en-US" sz="1200" b="1">
                          <a:solidFill>
                            <a:srgbClr val="111827"/>
                          </a:solidFill>
                          <a:effectLst/>
                          <a:latin typeface="Arial" panose="020B0604020202020204" pitchFamily="34" charset="0"/>
                          <a:cs typeface="Arial" panose="020B0604020202020204" pitchFamily="34" charset="0"/>
                        </a:rPr>
                        <a:t>SAM 3</a:t>
                      </a:r>
                    </a:p>
                  </a:txBody>
                  <a:tcPr marL="30643" marR="30643" marT="15322" marB="15322" anchor="b">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3104665787"/>
                  </a:ext>
                </a:extLst>
              </a:tr>
              <a:tr h="490292">
                <a:tc>
                  <a:txBody>
                    <a:bodyPr/>
                    <a:lstStyle/>
                    <a:p>
                      <a:pPr algn="l" fontAlgn="base">
                        <a:buNone/>
                      </a:pPr>
                      <a:r>
                        <a:rPr lang="en-US" sz="1200">
                          <a:effectLst/>
                          <a:latin typeface="Arial" panose="020B0604020202020204" pitchFamily="34" charset="0"/>
                          <a:cs typeface="Arial" panose="020B0604020202020204" pitchFamily="34" charset="0"/>
                        </a:rPr>
                        <a:t>Zero-Shot Segmentation Quality</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dirty="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1340879795"/>
                  </a:ext>
                </a:extLst>
              </a:tr>
              <a:tr h="398362">
                <a:tc>
                  <a:txBody>
                    <a:bodyPr/>
                    <a:lstStyle/>
                    <a:p>
                      <a:pPr algn="l" fontAlgn="base">
                        <a:buNone/>
                      </a:pPr>
                      <a:r>
                        <a:rPr lang="en-US" sz="1200">
                          <a:effectLst/>
                          <a:latin typeface="Arial" panose="020B0604020202020204" pitchFamily="34" charset="0"/>
                          <a:cs typeface="Arial" panose="020B0604020202020204" pitchFamily="34" charset="0"/>
                        </a:rPr>
                        <a:t>Small Object Performance</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1356084500"/>
                  </a:ext>
                </a:extLst>
              </a:tr>
              <a:tr h="306432">
                <a:tc>
                  <a:txBody>
                    <a:bodyPr/>
                    <a:lstStyle/>
                    <a:p>
                      <a:pPr algn="l" fontAlgn="base">
                        <a:buNone/>
                      </a:pPr>
                      <a:r>
                        <a:rPr lang="en-US" sz="1200">
                          <a:effectLst/>
                          <a:latin typeface="Arial" panose="020B0604020202020204" pitchFamily="34" charset="0"/>
                          <a:cs typeface="Arial" panose="020B0604020202020204" pitchFamily="34" charset="0"/>
                        </a:rPr>
                        <a:t>Boundary Accuracy</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196161023"/>
                  </a:ext>
                </a:extLst>
              </a:tr>
              <a:tr h="490292">
                <a:tc>
                  <a:txBody>
                    <a:bodyPr/>
                    <a:lstStyle/>
                    <a:p>
                      <a:pPr algn="l" fontAlgn="base">
                        <a:buNone/>
                      </a:pPr>
                      <a:r>
                        <a:rPr lang="en-US" sz="1200">
                          <a:effectLst/>
                          <a:latin typeface="Arial" panose="020B0604020202020204" pitchFamily="34" charset="0"/>
                          <a:cs typeface="Arial" panose="020B0604020202020204" pitchFamily="34" charset="0"/>
                        </a:rPr>
                        <a:t>Prompt Types Supported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Points, Boxes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Points, Boxes, Masks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Points, Boxes, Masks, Text, Examples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1396593074"/>
                  </a:ext>
                </a:extLst>
              </a:tr>
              <a:tr h="306432">
                <a:tc>
                  <a:txBody>
                    <a:bodyPr/>
                    <a:lstStyle/>
                    <a:p>
                      <a:pPr algn="l" fontAlgn="base">
                        <a:buNone/>
                      </a:pPr>
                      <a:r>
                        <a:rPr lang="en-US" sz="1200">
                          <a:effectLst/>
                          <a:latin typeface="Arial" panose="020B0604020202020204" pitchFamily="34" charset="0"/>
                          <a:cs typeface="Arial" panose="020B0604020202020204" pitchFamily="34" charset="0"/>
                        </a:rPr>
                        <a:t>Video Segmentation</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Limited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Full video support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3984955209"/>
                  </a:ext>
                </a:extLst>
              </a:tr>
              <a:tr h="490292">
                <a:tc>
                  <a:txBody>
                    <a:bodyPr/>
                    <a:lstStyle/>
                    <a:p>
                      <a:pPr algn="l" fontAlgn="base">
                        <a:buNone/>
                      </a:pPr>
                      <a:r>
                        <a:rPr lang="en-US" sz="1200">
                          <a:effectLst/>
                          <a:latin typeface="Arial" panose="020B0604020202020204" pitchFamily="34" charset="0"/>
                          <a:cs typeface="Arial" panose="020B0604020202020204" pitchFamily="34" charset="0"/>
                        </a:rPr>
                        <a:t>3D / Volumetric Segmentation</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ru-RU" sz="1200">
                          <a:effectLst/>
                          <a:latin typeface="Arial" panose="020B0604020202020204" pitchFamily="34" charset="0"/>
                          <a:cs typeface="Arial" panose="020B0604020202020204" pitchFamily="34" charset="0"/>
                        </a:rPr>
                        <a: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dirty="0">
                          <a:effectLst/>
                          <a:latin typeface="Arial" panose="020B0604020202020204" pitchFamily="34" charset="0"/>
                          <a:cs typeface="Arial" panose="020B0604020202020204" pitchFamily="34" charset="0"/>
                        </a:rPr>
                        <a:t>Experimental</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Supported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2930908947"/>
                  </a:ext>
                </a:extLst>
              </a:tr>
              <a:tr h="306432">
                <a:tc>
                  <a:txBody>
                    <a:bodyPr/>
                    <a:lstStyle/>
                    <a:p>
                      <a:pPr algn="l" fontAlgn="base">
                        <a:buNone/>
                      </a:pPr>
                      <a:r>
                        <a:rPr lang="en-US" sz="1200">
                          <a:effectLst/>
                          <a:latin typeface="Arial" panose="020B0604020202020204" pitchFamily="34" charset="0"/>
                          <a:cs typeface="Arial" panose="020B0604020202020204" pitchFamily="34" charset="0"/>
                        </a:rPr>
                        <a:t>Inference Speed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dirty="0">
                          <a:effectLst/>
                          <a:latin typeface="Arial" panose="020B0604020202020204" pitchFamily="34" charset="0"/>
                          <a:cs typeface="Arial" panose="020B0604020202020204" pitchFamily="34" charset="0"/>
                        </a:rPr>
                        <a:t>Medium</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Medium</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Faster + more efficient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1672511611"/>
                  </a:ext>
                </a:extLst>
              </a:tr>
              <a:tr h="214503">
                <a:tc>
                  <a:txBody>
                    <a:bodyPr/>
                    <a:lstStyle/>
                    <a:p>
                      <a:pPr algn="l" fontAlgn="base">
                        <a:buNone/>
                      </a:pPr>
                      <a:r>
                        <a:rPr lang="en-US" sz="1200">
                          <a:effectLst/>
                          <a:latin typeface="Arial" panose="020B0604020202020204" pitchFamily="34" charset="0"/>
                          <a:cs typeface="Arial" panose="020B0604020202020204" pitchFamily="34" charset="0"/>
                        </a:rPr>
                        <a:t>Memory Efficiency</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High usage</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Moderate usage</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Optimized / lower</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3683356475"/>
                  </a:ext>
                </a:extLst>
              </a:tr>
              <a:tr h="306432">
                <a:tc>
                  <a:txBody>
                    <a:bodyPr/>
                    <a:lstStyle/>
                    <a:p>
                      <a:pPr algn="l" fontAlgn="base">
                        <a:buNone/>
                      </a:pPr>
                      <a:r>
                        <a:rPr lang="en-US" sz="1200">
                          <a:effectLst/>
                          <a:latin typeface="Arial" panose="020B0604020202020204" pitchFamily="34" charset="0"/>
                          <a:cs typeface="Arial" panose="020B0604020202020204" pitchFamily="34" charset="0"/>
                        </a:rPr>
                        <a:t>Fine-Tuning Support</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None</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Limited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Stable + recommended</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3360751527"/>
                  </a:ext>
                </a:extLst>
              </a:tr>
              <a:tr h="398362">
                <a:tc>
                  <a:txBody>
                    <a:bodyPr/>
                    <a:lstStyle/>
                    <a:p>
                      <a:pPr algn="l" fontAlgn="base">
                        <a:buNone/>
                      </a:pPr>
                      <a:r>
                        <a:rPr lang="en-US" sz="1200">
                          <a:effectLst/>
                          <a:latin typeface="Arial" panose="020B0604020202020204" pitchFamily="34" charset="0"/>
                          <a:cs typeface="Arial" panose="020B0604020202020204" pitchFamily="34" charset="0"/>
                        </a:rPr>
                        <a:t>Cross-Domain Robustness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Weak</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Moderate</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Strong</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514327094"/>
                  </a:ext>
                </a:extLst>
              </a:tr>
              <a:tr h="306432">
                <a:tc>
                  <a:txBody>
                    <a:bodyPr/>
                    <a:lstStyle/>
                    <a:p>
                      <a:pPr algn="l" fontAlgn="base">
                        <a:buNone/>
                      </a:pPr>
                      <a:r>
                        <a:rPr lang="en-US" sz="1200">
                          <a:effectLst/>
                          <a:latin typeface="Arial" panose="020B0604020202020204" pitchFamily="34" charset="0"/>
                          <a:cs typeface="Arial" panose="020B0604020202020204" pitchFamily="34" charset="0"/>
                        </a:rPr>
                        <a:t>Model Size Options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Multiple sizes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Multiple sizes</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Singular, large model</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4002724792"/>
                  </a:ext>
                </a:extLst>
              </a:tr>
              <a:tr h="214503">
                <a:tc>
                  <a:txBody>
                    <a:bodyPr/>
                    <a:lstStyle/>
                    <a:p>
                      <a:pPr algn="l" fontAlgn="base">
                        <a:buNone/>
                      </a:pPr>
                      <a:r>
                        <a:rPr lang="en-US" sz="1200">
                          <a:effectLst/>
                          <a:latin typeface="Arial" panose="020B0604020202020204" pitchFamily="34" charset="0"/>
                          <a:cs typeface="Arial" panose="020B0604020202020204" pitchFamily="34" charset="0"/>
                        </a:rPr>
                        <a:t>License Clarity</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Custom</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a:effectLst/>
                          <a:latin typeface="Arial" panose="020B0604020202020204" pitchFamily="34" charset="0"/>
                          <a:cs typeface="Arial" panose="020B0604020202020204" pitchFamily="34" charset="0"/>
                        </a:rPr>
                        <a:t>Custom</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a:lstStyle/>
                    <a:p>
                      <a:pPr algn="l" fontAlgn="base">
                        <a:buNone/>
                      </a:pPr>
                      <a:r>
                        <a:rPr lang="en-US" sz="1200" dirty="0">
                          <a:effectLst/>
                          <a:latin typeface="Arial" panose="020B0604020202020204" pitchFamily="34" charset="0"/>
                          <a:cs typeface="Arial" panose="020B0604020202020204" pitchFamily="34" charset="0"/>
                        </a:rPr>
                        <a:t>Custom</a:t>
                      </a:r>
                    </a:p>
                  </a:txBody>
                  <a:tcPr marL="30643" marR="30643" marT="15322" marB="15322"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extLst>
                  <a:ext uri="{0D108BD9-81ED-4DB2-BD59-A6C34878D82A}">
                    <a16:rowId xmlns:a16="http://schemas.microsoft.com/office/drawing/2014/main" val="3869731682"/>
                  </a:ext>
                </a:extLst>
              </a:tr>
            </a:tbl>
          </a:graphicData>
        </a:graphic>
      </p:graphicFrame>
      <p:sp>
        <p:nvSpPr>
          <p:cNvPr id="4" name="Номер слайда 3">
            <a:extLst>
              <a:ext uri="{FF2B5EF4-FFF2-40B4-BE49-F238E27FC236}">
                <a16:creationId xmlns:a16="http://schemas.microsoft.com/office/drawing/2014/main" id="{887ACC36-6D86-EA61-AE22-255B9F673BB7}"/>
              </a:ext>
            </a:extLst>
          </p:cNvPr>
          <p:cNvSpPr>
            <a:spLocks noGrp="1"/>
          </p:cNvSpPr>
          <p:nvPr>
            <p:ph type="sldNum" sz="quarter" idx="12"/>
          </p:nvPr>
        </p:nvSpPr>
        <p:spPr/>
        <p:txBody>
          <a:bodyPr/>
          <a:lstStyle/>
          <a:p>
            <a:fld id="{818D4B0C-12DF-447C-B791-E379AA958CE7}" type="slidenum">
              <a:rPr lang="ru-RU" smtClean="0"/>
              <a:pPr/>
              <a:t>11</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2968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instance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Grounded Segment Anything (</a:t>
            </a:r>
            <a:r>
              <a:rPr lang="en-US" sz="3000" dirty="0" err="1">
                <a:latin typeface="Arial" panose="020B0604020202020204" pitchFamily="34" charset="0"/>
                <a:cs typeface="Arial" panose="020B0604020202020204" pitchFamily="34" charset="0"/>
              </a:rPr>
              <a:t>GroundingDINO</a:t>
            </a:r>
            <a:r>
              <a:rPr lang="en-US" sz="3000" dirty="0">
                <a:latin typeface="Arial" panose="020B0604020202020204" pitchFamily="34" charset="0"/>
                <a:cs typeface="Arial" panose="020B0604020202020204" pitchFamily="34" charset="0"/>
              </a:rPr>
              <a:t> + SAM)</a:t>
            </a:r>
          </a:p>
        </p:txBody>
      </p:sp>
      <p:sp>
        <p:nvSpPr>
          <p:cNvPr id="28" name="TextBox 27">
            <a:extLst>
              <a:ext uri="{FF2B5EF4-FFF2-40B4-BE49-F238E27FC236}">
                <a16:creationId xmlns:a16="http://schemas.microsoft.com/office/drawing/2014/main" id="{DA3B9BF7-D59D-C7D7-36DD-CB2D11D9CBC3}"/>
              </a:ext>
            </a:extLst>
          </p:cNvPr>
          <p:cNvSpPr txBox="1"/>
          <p:nvPr/>
        </p:nvSpPr>
        <p:spPr>
          <a:xfrm>
            <a:off x="2352039" y="5537186"/>
            <a:ext cx="7487920"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https://github.com/IDEA-Research/Grounded-Segment-Anything</a:t>
            </a:r>
          </a:p>
        </p:txBody>
      </p:sp>
      <p:pic>
        <p:nvPicPr>
          <p:cNvPr id="30" name="Рисунок 29">
            <a:extLst>
              <a:ext uri="{FF2B5EF4-FFF2-40B4-BE49-F238E27FC236}">
                <a16:creationId xmlns:a16="http://schemas.microsoft.com/office/drawing/2014/main" id="{5827E50D-C6D5-B488-184D-15134C411F80}"/>
              </a:ext>
            </a:extLst>
          </p:cNvPr>
          <p:cNvPicPr>
            <a:picLocks noChangeAspect="1"/>
          </p:cNvPicPr>
          <p:nvPr/>
        </p:nvPicPr>
        <p:blipFill>
          <a:blip r:embed="rId2"/>
          <a:stretch>
            <a:fillRect/>
          </a:stretch>
        </p:blipFill>
        <p:spPr>
          <a:xfrm>
            <a:off x="123946" y="2092905"/>
            <a:ext cx="11944107" cy="3226730"/>
          </a:xfrm>
          <a:prstGeom prst="rect">
            <a:avLst/>
          </a:prstGeom>
        </p:spPr>
      </p:pic>
      <p:sp>
        <p:nvSpPr>
          <p:cNvPr id="2" name="Номер слайда 1">
            <a:extLst>
              <a:ext uri="{FF2B5EF4-FFF2-40B4-BE49-F238E27FC236}">
                <a16:creationId xmlns:a16="http://schemas.microsoft.com/office/drawing/2014/main" id="{EFBAF516-F48F-DC98-4661-4E1028BF983D}"/>
              </a:ext>
            </a:extLst>
          </p:cNvPr>
          <p:cNvSpPr>
            <a:spLocks noGrp="1"/>
          </p:cNvSpPr>
          <p:nvPr>
            <p:ph type="sldNum" sz="quarter" idx="12"/>
          </p:nvPr>
        </p:nvSpPr>
        <p:spPr/>
        <p:txBody>
          <a:bodyPr/>
          <a:lstStyle/>
          <a:p>
            <a:fld id="{818D4B0C-12DF-447C-B791-E379AA958CE7}" type="slidenum">
              <a:rPr lang="ru-RU" smtClean="0"/>
              <a:pPr/>
              <a:t>12</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569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en-US" sz="4000" dirty="0">
                <a:latin typeface="Arial" panose="020B0604020202020204" pitchFamily="34" charset="0"/>
                <a:cs typeface="Arial" panose="020B0604020202020204" pitchFamily="34" charset="0"/>
              </a:rPr>
              <a:t>Zero-shot instance </a:t>
            </a:r>
            <a:r>
              <a:rPr lang="ru-RU" sz="4000" dirty="0">
                <a:latin typeface="Arial" panose="020B0604020202020204" pitchFamily="34" charset="0"/>
                <a:cs typeface="Arial" panose="020B0604020202020204" pitchFamily="34" charset="0"/>
              </a:rPr>
              <a:t>сегментация</a:t>
            </a:r>
          </a:p>
        </p:txBody>
      </p:sp>
      <p:sp>
        <p:nvSpPr>
          <p:cNvPr id="8" name="Заголовок 1">
            <a:extLst>
              <a:ext uri="{FF2B5EF4-FFF2-40B4-BE49-F238E27FC236}">
                <a16:creationId xmlns:a16="http://schemas.microsoft.com/office/drawing/2014/main" id="{6CAE335B-C0AD-97EF-66AF-36DD37F16183}"/>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LangSAM (</a:t>
            </a:r>
            <a:r>
              <a:rPr lang="en-US" sz="3000" dirty="0" err="1">
                <a:latin typeface="Arial" panose="020B0604020202020204" pitchFamily="34" charset="0"/>
                <a:cs typeface="Arial" panose="020B0604020202020204" pitchFamily="34" charset="0"/>
              </a:rPr>
              <a:t>GroundingDINO</a:t>
            </a:r>
            <a:r>
              <a:rPr lang="en-US" sz="3000" dirty="0">
                <a:latin typeface="Arial" panose="020B0604020202020204" pitchFamily="34" charset="0"/>
                <a:cs typeface="Arial" panose="020B0604020202020204" pitchFamily="34" charset="0"/>
              </a:rPr>
              <a:t> + SAM)</a:t>
            </a:r>
            <a:r>
              <a:rPr lang="ru-RU" sz="3000" dirty="0">
                <a:latin typeface="Arial" panose="020B0604020202020204" pitchFamily="34" charset="0"/>
                <a:cs typeface="Arial" panose="020B0604020202020204" pitchFamily="34" charset="0"/>
              </a:rPr>
              <a:t> </a:t>
            </a:r>
            <a:endParaRPr lang="en-US" sz="3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2C6E3C7-F9F5-3976-27D8-16836096AA74}"/>
              </a:ext>
            </a:extLst>
          </p:cNvPr>
          <p:cNvSpPr txBox="1"/>
          <p:nvPr/>
        </p:nvSpPr>
        <p:spPr>
          <a:xfrm>
            <a:off x="3048000" y="6321486"/>
            <a:ext cx="6096000"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https://github.com/luca-medeiros/lang-segment-anything</a:t>
            </a:r>
          </a:p>
        </p:txBody>
      </p:sp>
      <p:pic>
        <p:nvPicPr>
          <p:cNvPr id="6" name="Рисунок 5">
            <a:extLst>
              <a:ext uri="{FF2B5EF4-FFF2-40B4-BE49-F238E27FC236}">
                <a16:creationId xmlns:a16="http://schemas.microsoft.com/office/drawing/2014/main" id="{4A404145-2636-A326-99E7-76DCF6D38737}"/>
              </a:ext>
            </a:extLst>
          </p:cNvPr>
          <p:cNvPicPr>
            <a:picLocks noChangeAspect="1"/>
          </p:cNvPicPr>
          <p:nvPr/>
        </p:nvPicPr>
        <p:blipFill>
          <a:blip r:embed="rId2"/>
          <a:stretch>
            <a:fillRect/>
          </a:stretch>
        </p:blipFill>
        <p:spPr>
          <a:xfrm>
            <a:off x="2997293" y="1891891"/>
            <a:ext cx="6197414" cy="4413058"/>
          </a:xfrm>
          <a:prstGeom prst="rect">
            <a:avLst/>
          </a:prstGeom>
        </p:spPr>
      </p:pic>
      <p:sp>
        <p:nvSpPr>
          <p:cNvPr id="2" name="Номер слайда 1">
            <a:extLst>
              <a:ext uri="{FF2B5EF4-FFF2-40B4-BE49-F238E27FC236}">
                <a16:creationId xmlns:a16="http://schemas.microsoft.com/office/drawing/2014/main" id="{BB46B961-2D33-641F-6ACB-B51736021FCF}"/>
              </a:ext>
            </a:extLst>
          </p:cNvPr>
          <p:cNvSpPr>
            <a:spLocks noGrp="1"/>
          </p:cNvSpPr>
          <p:nvPr>
            <p:ph type="sldNum" sz="quarter" idx="12"/>
          </p:nvPr>
        </p:nvSpPr>
        <p:spPr/>
        <p:txBody>
          <a:bodyPr/>
          <a:lstStyle/>
          <a:p>
            <a:fld id="{818D4B0C-12DF-447C-B791-E379AA958CE7}" type="slidenum">
              <a:rPr lang="ru-RU" smtClean="0"/>
              <a:pPr/>
              <a:t>13</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6203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5FC5B877-7744-02C7-BCDF-A4D8DE00D7D0}"/>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Ссылки на </a:t>
            </a:r>
            <a:r>
              <a:rPr lang="en-US" sz="4000" dirty="0" err="1">
                <a:latin typeface="Arial" panose="020B0604020202020204" pitchFamily="34" charset="0"/>
                <a:cs typeface="Arial" panose="020B0604020202020204" pitchFamily="34" charset="0"/>
              </a:rPr>
              <a:t>colab</a:t>
            </a:r>
            <a:endParaRPr lang="ru-RU" sz="4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CF008E2-13FD-37F8-7876-BADC87052E47}"/>
              </a:ext>
            </a:extLst>
          </p:cNvPr>
          <p:cNvSpPr txBox="1"/>
          <p:nvPr/>
        </p:nvSpPr>
        <p:spPr>
          <a:xfrm>
            <a:off x="616966" y="1933329"/>
            <a:ext cx="11811508" cy="1569660"/>
          </a:xfrm>
          <a:prstGeom prst="rect">
            <a:avLst/>
          </a:prstGeom>
          <a:noFill/>
        </p:spPr>
        <p:txBody>
          <a:bodyPr wrap="square">
            <a:spAutoFit/>
          </a:bodyPr>
          <a:lstStyle/>
          <a:p>
            <a:pPr marL="342900" indent="-34290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hlinkClick r:id="rId2"/>
              </a:rPr>
              <a:t>YOLO-World</a:t>
            </a:r>
            <a:endParaRPr lang="en-US" sz="2400" b="0" i="0" dirty="0">
              <a:effectLst/>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hlinkClick r:id="rId3"/>
              </a:rPr>
              <a:t>CLIPSeg</a:t>
            </a:r>
            <a:endParaRPr lang="en-US" sz="2400" b="0" i="0" dirty="0">
              <a:effectLst/>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hlinkClick r:id="rId4"/>
              </a:rPr>
              <a:t>SAM2</a:t>
            </a:r>
            <a:endParaRPr lang="en-US" sz="2400" b="0" i="0" dirty="0">
              <a:effectLst/>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hlinkClick r:id="rId5"/>
              </a:rPr>
              <a:t>SAM3</a:t>
            </a:r>
            <a:endParaRPr lang="en-US" sz="2400" dirty="0">
              <a:latin typeface="Arial" panose="020B0604020202020204" pitchFamily="34" charset="0"/>
              <a:cs typeface="Arial" panose="020B0604020202020204" pitchFamily="34" charset="0"/>
            </a:endParaRPr>
          </a:p>
        </p:txBody>
      </p:sp>
      <p:sp>
        <p:nvSpPr>
          <p:cNvPr id="2" name="Номер слайда 1">
            <a:extLst>
              <a:ext uri="{FF2B5EF4-FFF2-40B4-BE49-F238E27FC236}">
                <a16:creationId xmlns:a16="http://schemas.microsoft.com/office/drawing/2014/main" id="{A890EC81-B110-A66E-BF7E-A33AC3DE6B09}"/>
              </a:ext>
            </a:extLst>
          </p:cNvPr>
          <p:cNvSpPr>
            <a:spLocks noGrp="1"/>
          </p:cNvSpPr>
          <p:nvPr>
            <p:ph type="sldNum" sz="quarter" idx="12"/>
          </p:nvPr>
        </p:nvSpPr>
        <p:spPr/>
        <p:txBody>
          <a:bodyPr/>
          <a:lstStyle/>
          <a:p>
            <a:fld id="{818D4B0C-12DF-447C-B791-E379AA958CE7}" type="slidenum">
              <a:rPr lang="ru-RU" smtClean="0"/>
              <a:pPr/>
              <a:t>14</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2492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01A73-697D-1D46-904C-ADDFEE72335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550BC0-51F1-3F40-17C1-32161EA38AB6}"/>
              </a:ext>
            </a:extLst>
          </p:cNvPr>
          <p:cNvSpPr>
            <a:spLocks noGrp="1"/>
          </p:cNvSpPr>
          <p:nvPr>
            <p:ph type="ctrTitle"/>
          </p:nvPr>
        </p:nvSpPr>
        <p:spPr/>
        <p:txBody>
          <a:bodyPr>
            <a:normAutofit/>
          </a:bodyPr>
          <a:lstStyle/>
          <a:p>
            <a:r>
              <a:rPr lang="en-US" sz="4400" dirty="0">
                <a:latin typeface="Arial" panose="020B0604020202020204" pitchFamily="34" charset="0"/>
                <a:cs typeface="Arial" panose="020B0604020202020204" pitchFamily="34" charset="0"/>
              </a:rPr>
              <a:t>Vision Large Models (VLM)</a:t>
            </a:r>
            <a:endParaRPr lang="ru-RU" sz="4400" dirty="0">
              <a:latin typeface="Arial" panose="020B0604020202020204" pitchFamily="34" charset="0"/>
              <a:cs typeface="Arial" panose="020B0604020202020204" pitchFamily="34" charset="0"/>
            </a:endParaRPr>
          </a:p>
        </p:txBody>
      </p:sp>
      <p:sp>
        <p:nvSpPr>
          <p:cNvPr id="4" name="Номер слайда 3">
            <a:extLst>
              <a:ext uri="{FF2B5EF4-FFF2-40B4-BE49-F238E27FC236}">
                <a16:creationId xmlns:a16="http://schemas.microsoft.com/office/drawing/2014/main" id="{62BD4C16-BD2F-39E8-A178-2EE560B79949}"/>
              </a:ext>
            </a:extLst>
          </p:cNvPr>
          <p:cNvSpPr>
            <a:spLocks noGrp="1"/>
          </p:cNvSpPr>
          <p:nvPr>
            <p:ph type="sldNum" sz="quarter" idx="12"/>
          </p:nvPr>
        </p:nvSpPr>
        <p:spPr/>
        <p:txBody>
          <a:bodyPr/>
          <a:lstStyle/>
          <a:p>
            <a:fld id="{818D4B0C-12DF-447C-B791-E379AA958CE7}" type="slidenum">
              <a:rPr lang="ru-RU" smtClean="0"/>
              <a:pPr/>
              <a:t>15</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9011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2137C-3201-37ED-4500-A2A1DAFE34E6}"/>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899974AE-C050-607C-2871-7ACB1E191469}"/>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D97650D1-B94E-DAF3-03FD-E87A370611AC}"/>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a:latin typeface="Arial" panose="020B0604020202020204" pitchFamily="34" charset="0"/>
                <a:cs typeface="Arial" panose="020B0604020202020204" pitchFamily="34" charset="0"/>
              </a:rPr>
              <a:t>Ключевые компоненты</a:t>
            </a:r>
            <a:endParaRPr lang="en-US" sz="3000" dirty="0">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id="{0636709D-BAB2-B6DD-6EAA-DDFA347AB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7320" y="1858002"/>
            <a:ext cx="9357360" cy="4916269"/>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4A2F7522-8EA2-43EF-F9E6-8A9D5F117169}"/>
              </a:ext>
            </a:extLst>
          </p:cNvPr>
          <p:cNvSpPr>
            <a:spLocks noGrp="1"/>
          </p:cNvSpPr>
          <p:nvPr>
            <p:ph type="sldNum" sz="quarter" idx="12"/>
          </p:nvPr>
        </p:nvSpPr>
        <p:spPr/>
        <p:txBody>
          <a:bodyPr/>
          <a:lstStyle/>
          <a:p>
            <a:fld id="{818D4B0C-12DF-447C-B791-E379AA958CE7}" type="slidenum">
              <a:rPr lang="ru-RU" smtClean="0"/>
              <a:pPr/>
              <a:t>16</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045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42B02-5DB7-D849-B243-C1545B4487BC}"/>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A46C3189-8994-C3D1-72BE-715CDD4E15A4}"/>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5DF86158-977F-3716-D8C7-4695E389D04F}"/>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dirty="0">
                <a:latin typeface="Arial" panose="020B0604020202020204" pitchFamily="34" charset="0"/>
                <a:cs typeface="Arial" panose="020B0604020202020204" pitchFamily="34" charset="0"/>
              </a:rPr>
              <a:t>Эволюция </a:t>
            </a:r>
            <a:r>
              <a:rPr lang="en-US" sz="3000" dirty="0">
                <a:latin typeface="Arial" panose="020B0604020202020204" pitchFamily="34" charset="0"/>
                <a:cs typeface="Arial" panose="020B0604020202020204" pitchFamily="34" charset="0"/>
              </a:rPr>
              <a:t>VLM</a:t>
            </a:r>
          </a:p>
        </p:txBody>
      </p:sp>
      <p:sp>
        <p:nvSpPr>
          <p:cNvPr id="3" name="TextBox 2">
            <a:extLst>
              <a:ext uri="{FF2B5EF4-FFF2-40B4-BE49-F238E27FC236}">
                <a16:creationId xmlns:a16="http://schemas.microsoft.com/office/drawing/2014/main" id="{A92C35C6-CD13-B16E-3E82-4EE1397B4862}"/>
              </a:ext>
            </a:extLst>
          </p:cNvPr>
          <p:cNvSpPr txBox="1"/>
          <p:nvPr/>
        </p:nvSpPr>
        <p:spPr>
          <a:xfrm>
            <a:off x="838199" y="1957705"/>
            <a:ext cx="10631311" cy="3416320"/>
          </a:xfrm>
          <a:prstGeom prst="rect">
            <a:avLst/>
          </a:prstGeom>
          <a:noFill/>
        </p:spPr>
        <p:txBody>
          <a:bodyPr wrap="square">
            <a:spAutoFit/>
          </a:bodyPr>
          <a:lstStyle/>
          <a:p>
            <a:pPr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 Pioneering Models (e.g., CLIP):</a:t>
            </a:r>
            <a:r>
              <a:rPr lang="en-US" b="0" i="0" dirty="0">
                <a:solidFill>
                  <a:srgbClr val="222222"/>
                </a:solidFill>
                <a:effectLst/>
                <a:latin typeface="Arial" panose="020B0604020202020204" pitchFamily="34" charset="0"/>
                <a:cs typeface="Arial" panose="020B0604020202020204" pitchFamily="34" charset="0"/>
              </a:rPr>
              <a:t> OpenAI’s </a:t>
            </a:r>
            <a:r>
              <a:rPr lang="en-US" b="1" i="0" dirty="0">
                <a:solidFill>
                  <a:srgbClr val="222222"/>
                </a:solidFill>
                <a:effectLst/>
                <a:latin typeface="Arial" panose="020B0604020202020204" pitchFamily="34" charset="0"/>
                <a:cs typeface="Arial" panose="020B0604020202020204" pitchFamily="34" charset="0"/>
              </a:rPr>
              <a:t>CLIP (Contrastive Language-Image Pre-training)</a:t>
            </a:r>
            <a:r>
              <a:rPr lang="en-US" b="0" i="0" dirty="0">
                <a:solidFill>
                  <a:srgbClr val="222222"/>
                </a:solidFill>
                <a:effectLst/>
                <a:latin typeface="Arial" panose="020B0604020202020204" pitchFamily="34" charset="0"/>
                <a:cs typeface="Arial" panose="020B0604020202020204" pitchFamily="34" charset="0"/>
              </a:rPr>
              <a:t>, released in 2021, was a major breakthrough. CLIP was trained on a massive dataset of image-text pairs from the internet. It learned to determine how well a given text description matched an image. While it couldn’t generate descriptions itself, it created a powerful shared embedding space that became a foundational block for future models.</a:t>
            </a:r>
          </a:p>
          <a:p>
            <a:pPr algn="l">
              <a:buFont typeface="Arial" panose="020B0604020202020204" pitchFamily="34" charset="0"/>
              <a:buChar char="•"/>
            </a:pPr>
            <a:endParaRPr lang="en-US" b="0" i="0" dirty="0">
              <a:solidFill>
                <a:srgbClr val="222222"/>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b="1" i="0" dirty="0">
                <a:solidFill>
                  <a:srgbClr val="222222"/>
                </a:solidFill>
                <a:effectLst/>
                <a:latin typeface="Arial" panose="020B0604020202020204" pitchFamily="34" charset="0"/>
                <a:cs typeface="Arial" panose="020B0604020202020204" pitchFamily="34" charset="0"/>
              </a:rPr>
              <a:t> Generative Models (e.g., Flamingo, </a:t>
            </a:r>
            <a:r>
              <a:rPr lang="en-US" b="1" i="0" dirty="0" err="1">
                <a:solidFill>
                  <a:srgbClr val="222222"/>
                </a:solidFill>
                <a:effectLst/>
                <a:latin typeface="Arial" panose="020B0604020202020204" pitchFamily="34" charset="0"/>
                <a:cs typeface="Arial" panose="020B0604020202020204" pitchFamily="34" charset="0"/>
              </a:rPr>
              <a:t>LLaVA</a:t>
            </a:r>
            <a:r>
              <a:rPr lang="en-US" b="1" i="0" dirty="0">
                <a:solidFill>
                  <a:srgbClr val="222222"/>
                </a:solidFill>
                <a:effectLst/>
                <a:latin typeface="Arial" panose="020B0604020202020204" pitchFamily="34" charset="0"/>
                <a:cs typeface="Arial" panose="020B0604020202020204" pitchFamily="34" charset="0"/>
              </a:rPr>
              <a:t>):</a:t>
            </a:r>
            <a:r>
              <a:rPr lang="en-US" b="0" i="0" dirty="0">
                <a:solidFill>
                  <a:srgbClr val="222222"/>
                </a:solidFill>
                <a:effectLst/>
                <a:latin typeface="Arial" panose="020B0604020202020204" pitchFamily="34" charset="0"/>
                <a:cs typeface="Arial" panose="020B0604020202020204" pitchFamily="34" charset="0"/>
              </a:rPr>
              <a:t> The next step was to move from matching to generating. Models like Google’s </a:t>
            </a:r>
            <a:r>
              <a:rPr lang="en-US" b="1" i="0" dirty="0">
                <a:solidFill>
                  <a:srgbClr val="222222"/>
                </a:solidFill>
                <a:effectLst/>
                <a:latin typeface="Arial" panose="020B0604020202020204" pitchFamily="34" charset="0"/>
                <a:cs typeface="Arial" panose="020B0604020202020204" pitchFamily="34" charset="0"/>
              </a:rPr>
              <a:t>Flamingo</a:t>
            </a:r>
            <a:r>
              <a:rPr lang="en-US" b="0" i="0" dirty="0">
                <a:solidFill>
                  <a:srgbClr val="222222"/>
                </a:solidFill>
                <a:effectLst/>
                <a:latin typeface="Arial" panose="020B0604020202020204" pitchFamily="34" charset="0"/>
                <a:cs typeface="Arial" panose="020B0604020202020204" pitchFamily="34" charset="0"/>
              </a:rPr>
              <a:t> and, more recently, </a:t>
            </a:r>
            <a:r>
              <a:rPr lang="en-US" b="1" i="0" dirty="0" err="1">
                <a:solidFill>
                  <a:srgbClr val="222222"/>
                </a:solidFill>
                <a:effectLst/>
                <a:latin typeface="Arial" panose="020B0604020202020204" pitchFamily="34" charset="0"/>
                <a:cs typeface="Arial" panose="020B0604020202020204" pitchFamily="34" charset="0"/>
              </a:rPr>
              <a:t>LLaVA</a:t>
            </a:r>
            <a:r>
              <a:rPr lang="en-US" b="1" i="0" dirty="0">
                <a:solidFill>
                  <a:srgbClr val="222222"/>
                </a:solidFill>
                <a:effectLst/>
                <a:latin typeface="Arial" panose="020B0604020202020204" pitchFamily="34" charset="0"/>
                <a:cs typeface="Arial" panose="020B0604020202020204" pitchFamily="34" charset="0"/>
              </a:rPr>
              <a:t> (Large Language and Vision Assistant)</a:t>
            </a:r>
            <a:r>
              <a:rPr lang="en-US" b="0" i="0" dirty="0">
                <a:solidFill>
                  <a:srgbClr val="222222"/>
                </a:solidFill>
                <a:effectLst/>
                <a:latin typeface="Arial" panose="020B0604020202020204" pitchFamily="34" charset="0"/>
                <a:cs typeface="Arial" panose="020B0604020202020204" pitchFamily="34" charset="0"/>
              </a:rPr>
              <a:t> were built upon these ideas. </a:t>
            </a:r>
            <a:r>
              <a:rPr lang="en-US" b="0" i="0" dirty="0" err="1">
                <a:solidFill>
                  <a:srgbClr val="222222"/>
                </a:solidFill>
                <a:effectLst/>
                <a:latin typeface="Arial" panose="020B0604020202020204" pitchFamily="34" charset="0"/>
                <a:cs typeface="Arial" panose="020B0604020202020204" pitchFamily="34" charset="0"/>
              </a:rPr>
              <a:t>LLaVA</a:t>
            </a:r>
            <a:r>
              <a:rPr lang="en-US" b="0" i="0" dirty="0">
                <a:solidFill>
                  <a:srgbClr val="222222"/>
                </a:solidFill>
                <a:effectLst/>
                <a:latin typeface="Arial" panose="020B0604020202020204" pitchFamily="34" charset="0"/>
                <a:cs typeface="Arial" panose="020B0604020202020204" pitchFamily="34" charset="0"/>
              </a:rPr>
              <a:t>, for instance, connects the vision backbone of CLIP with a powerful LLM (like Vicuna). By using a simple fusion mechanism and fine-tuning the model on instruction-following datasets, </a:t>
            </a:r>
            <a:r>
              <a:rPr lang="en-US" b="0" i="0" dirty="0" err="1">
                <a:solidFill>
                  <a:srgbClr val="222222"/>
                </a:solidFill>
                <a:effectLst/>
                <a:latin typeface="Arial" panose="020B0604020202020204" pitchFamily="34" charset="0"/>
                <a:cs typeface="Arial" panose="020B0604020202020204" pitchFamily="34" charset="0"/>
              </a:rPr>
              <a:t>LLaVA</a:t>
            </a:r>
            <a:r>
              <a:rPr lang="en-US" b="0" i="0" dirty="0">
                <a:solidFill>
                  <a:srgbClr val="222222"/>
                </a:solidFill>
                <a:effectLst/>
                <a:latin typeface="Arial" panose="020B0604020202020204" pitchFamily="34" charset="0"/>
                <a:cs typeface="Arial" panose="020B0604020202020204" pitchFamily="34" charset="0"/>
              </a:rPr>
              <a:t> demonstrated the ability to have complex, conversational dialogues about images, marking a significant step towards the VLM assistants we see today.</a:t>
            </a:r>
          </a:p>
        </p:txBody>
      </p:sp>
      <p:sp>
        <p:nvSpPr>
          <p:cNvPr id="4" name="Номер слайда 3">
            <a:extLst>
              <a:ext uri="{FF2B5EF4-FFF2-40B4-BE49-F238E27FC236}">
                <a16:creationId xmlns:a16="http://schemas.microsoft.com/office/drawing/2014/main" id="{80FEEF24-40D9-5172-3655-834321EDCA42}"/>
              </a:ext>
            </a:extLst>
          </p:cNvPr>
          <p:cNvSpPr>
            <a:spLocks noGrp="1"/>
          </p:cNvSpPr>
          <p:nvPr>
            <p:ph type="sldNum" sz="quarter" idx="12"/>
          </p:nvPr>
        </p:nvSpPr>
        <p:spPr/>
        <p:txBody>
          <a:bodyPr/>
          <a:lstStyle/>
          <a:p>
            <a:fld id="{818D4B0C-12DF-447C-B791-E379AA958CE7}" type="slidenum">
              <a:rPr lang="ru-RU" smtClean="0"/>
              <a:pPr/>
              <a:t>17</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0607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32CD-CA8C-1478-28BD-9C1153C513AC}"/>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D502AD89-31BC-DE31-C75B-72C3541F3F87}"/>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9774A29B-A0F0-96A0-4AD6-44DDE7ED7B69}"/>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dirty="0">
                <a:latin typeface="Arial" panose="020B0604020202020204" pitchFamily="34" charset="0"/>
                <a:cs typeface="Arial" panose="020B0604020202020204" pitchFamily="34" charset="0"/>
              </a:rPr>
              <a:t>Применения </a:t>
            </a:r>
            <a:r>
              <a:rPr lang="en-US" sz="3000" dirty="0">
                <a:latin typeface="Arial" panose="020B0604020202020204" pitchFamily="34" charset="0"/>
                <a:cs typeface="Arial" panose="020B0604020202020204" pitchFamily="34" charset="0"/>
              </a:rPr>
              <a:t>VLM</a:t>
            </a:r>
          </a:p>
        </p:txBody>
      </p:sp>
      <p:sp>
        <p:nvSpPr>
          <p:cNvPr id="3" name="TextBox 2">
            <a:extLst>
              <a:ext uri="{FF2B5EF4-FFF2-40B4-BE49-F238E27FC236}">
                <a16:creationId xmlns:a16="http://schemas.microsoft.com/office/drawing/2014/main" id="{3B9EB824-1409-3D76-0541-E6FF6C67EE5D}"/>
              </a:ext>
            </a:extLst>
          </p:cNvPr>
          <p:cNvSpPr txBox="1"/>
          <p:nvPr/>
        </p:nvSpPr>
        <p:spPr>
          <a:xfrm>
            <a:off x="838199" y="1957705"/>
            <a:ext cx="10631311" cy="646331"/>
          </a:xfrm>
          <a:prstGeom prst="rect">
            <a:avLst/>
          </a:prstGeom>
          <a:noFill/>
        </p:spPr>
        <p:txBody>
          <a:bodyPr wrap="square">
            <a:spAutoFit/>
          </a:bodyPr>
          <a:lstStyle/>
          <a:p>
            <a:pPr algn="l">
              <a:buFont typeface="Arial" panose="020B0604020202020204" pitchFamily="34" charset="0"/>
              <a:buChar char="•"/>
            </a:pPr>
            <a:r>
              <a:rPr lang="ru-RU" b="1" i="0" dirty="0">
                <a:solidFill>
                  <a:srgbClr val="222222"/>
                </a:solidFill>
                <a:effectLst/>
                <a:latin typeface="Arial" panose="020B0604020202020204" pitchFamily="34" charset="0"/>
                <a:cs typeface="Arial" panose="020B0604020202020204" pitchFamily="34" charset="0"/>
              </a:rPr>
              <a:t> </a:t>
            </a:r>
            <a:r>
              <a:rPr lang="en-US" b="1" i="0" dirty="0">
                <a:solidFill>
                  <a:srgbClr val="222222"/>
                </a:solidFill>
                <a:effectLst/>
                <a:latin typeface="Arial" panose="020B0604020202020204" pitchFamily="34" charset="0"/>
                <a:cs typeface="Arial" panose="020B0604020202020204" pitchFamily="34" charset="0"/>
              </a:rPr>
              <a:t>Image Captioning: </a:t>
            </a:r>
            <a:r>
              <a:rPr lang="en-US" i="0" dirty="0">
                <a:solidFill>
                  <a:srgbClr val="222222"/>
                </a:solidFill>
                <a:effectLst/>
                <a:latin typeface="Arial" panose="020B0604020202020204" pitchFamily="34" charset="0"/>
                <a:cs typeface="Arial" panose="020B0604020202020204" pitchFamily="34" charset="0"/>
              </a:rPr>
              <a:t>Automatically generating accurate and descriptive captions for images, which is invaluable for accessibility (e.g., screen readers for the visually impaired) and content organization.</a:t>
            </a:r>
            <a:endParaRPr lang="ru-RU" i="0" dirty="0">
              <a:solidFill>
                <a:srgbClr val="222222"/>
              </a:solidFill>
              <a:effectLst/>
              <a:latin typeface="Arial" panose="020B0604020202020204" pitchFamily="34" charset="0"/>
              <a:cs typeface="Arial" panose="020B0604020202020204" pitchFamily="34" charset="0"/>
            </a:endParaRPr>
          </a:p>
        </p:txBody>
      </p:sp>
      <p:pic>
        <p:nvPicPr>
          <p:cNvPr id="5122" name="Picture 2">
            <a:extLst>
              <a:ext uri="{FF2B5EF4-FFF2-40B4-BE49-F238E27FC236}">
                <a16:creationId xmlns:a16="http://schemas.microsoft.com/office/drawing/2014/main" id="{0B4D591D-A1CC-7E6A-DBCF-D96D3A843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763" y="2696912"/>
            <a:ext cx="4562475" cy="4076700"/>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5C8DD9F2-ADC6-47DB-79EA-45EC1C781E97}"/>
              </a:ext>
            </a:extLst>
          </p:cNvPr>
          <p:cNvSpPr>
            <a:spLocks noGrp="1"/>
          </p:cNvSpPr>
          <p:nvPr>
            <p:ph type="sldNum" sz="quarter" idx="12"/>
          </p:nvPr>
        </p:nvSpPr>
        <p:spPr/>
        <p:txBody>
          <a:bodyPr/>
          <a:lstStyle/>
          <a:p>
            <a:fld id="{818D4B0C-12DF-447C-B791-E379AA958CE7}" type="slidenum">
              <a:rPr lang="ru-RU" smtClean="0"/>
              <a:pPr/>
              <a:t>18</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2138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0441-337E-8E51-A6D6-B6F306F60F5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DE983521-B45C-19E1-39B1-B4482D1FA4DF}"/>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C46AB404-4876-4995-9D14-DA4DA14B698A}"/>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dirty="0">
                <a:latin typeface="Arial" panose="020B0604020202020204" pitchFamily="34" charset="0"/>
                <a:cs typeface="Arial" panose="020B0604020202020204" pitchFamily="34" charset="0"/>
              </a:rPr>
              <a:t>Применения </a:t>
            </a:r>
            <a:r>
              <a:rPr lang="en-US" sz="3000" dirty="0">
                <a:latin typeface="Arial" panose="020B0604020202020204" pitchFamily="34" charset="0"/>
                <a:cs typeface="Arial" panose="020B0604020202020204" pitchFamily="34" charset="0"/>
              </a:rPr>
              <a:t>VLM</a:t>
            </a:r>
          </a:p>
        </p:txBody>
      </p:sp>
      <p:sp>
        <p:nvSpPr>
          <p:cNvPr id="3" name="TextBox 2">
            <a:extLst>
              <a:ext uri="{FF2B5EF4-FFF2-40B4-BE49-F238E27FC236}">
                <a16:creationId xmlns:a16="http://schemas.microsoft.com/office/drawing/2014/main" id="{B92E789F-2AED-B3A9-ABFC-E28295100B5C}"/>
              </a:ext>
            </a:extLst>
          </p:cNvPr>
          <p:cNvSpPr txBox="1"/>
          <p:nvPr/>
        </p:nvSpPr>
        <p:spPr>
          <a:xfrm>
            <a:off x="838199" y="1957705"/>
            <a:ext cx="10631311" cy="923330"/>
          </a:xfrm>
          <a:prstGeom prst="rect">
            <a:avLst/>
          </a:prstGeom>
          <a:noFill/>
        </p:spPr>
        <p:txBody>
          <a:bodyPr wrap="square">
            <a:spAutoFit/>
          </a:bodyPr>
          <a:lstStyle/>
          <a:p>
            <a:pPr algn="l">
              <a:buFont typeface="Arial" panose="020B0604020202020204" pitchFamily="34" charset="0"/>
              <a:buChar char="•"/>
            </a:pPr>
            <a:r>
              <a:rPr lang="ru-RU" b="1" i="0" dirty="0">
                <a:solidFill>
                  <a:srgbClr val="222222"/>
                </a:solidFill>
                <a:effectLst/>
                <a:latin typeface="Arial" panose="020B0604020202020204" pitchFamily="34" charset="0"/>
                <a:cs typeface="Arial" panose="020B0604020202020204" pitchFamily="34" charset="0"/>
              </a:rPr>
              <a:t> </a:t>
            </a:r>
            <a:r>
              <a:rPr lang="en-US" b="1" i="0" dirty="0">
                <a:solidFill>
                  <a:srgbClr val="222222"/>
                </a:solidFill>
                <a:effectLst/>
                <a:latin typeface="Arial" panose="020B0604020202020204" pitchFamily="34" charset="0"/>
                <a:cs typeface="Arial" panose="020B0604020202020204" pitchFamily="34" charset="0"/>
              </a:rPr>
              <a:t>Visual Question Answering (VQA): </a:t>
            </a:r>
            <a:r>
              <a:rPr lang="en-US" i="0" dirty="0">
                <a:solidFill>
                  <a:srgbClr val="222222"/>
                </a:solidFill>
                <a:effectLst/>
                <a:latin typeface="Arial" panose="020B0604020202020204" pitchFamily="34" charset="0"/>
                <a:cs typeface="Arial" panose="020B0604020202020204" pitchFamily="34" charset="0"/>
              </a:rPr>
              <a:t>Asking specific questions about an image and getting detailed answers. For example, “How many people are sitting at the table in this cafe?” or “What color is the car on the right?”</a:t>
            </a:r>
            <a:endParaRPr lang="ru-RU" i="0" dirty="0">
              <a:solidFill>
                <a:srgbClr val="222222"/>
              </a:solidFill>
              <a:effectLst/>
              <a:latin typeface="Arial" panose="020B0604020202020204" pitchFamily="34" charset="0"/>
              <a:cs typeface="Arial" panose="020B0604020202020204" pitchFamily="34" charset="0"/>
            </a:endParaRPr>
          </a:p>
        </p:txBody>
      </p:sp>
      <p:pic>
        <p:nvPicPr>
          <p:cNvPr id="7170" name="Picture 2">
            <a:extLst>
              <a:ext uri="{FF2B5EF4-FFF2-40B4-BE49-F238E27FC236}">
                <a16:creationId xmlns:a16="http://schemas.microsoft.com/office/drawing/2014/main" id="{F6E5FE55-ADCA-C5D9-6C58-B8CE47C8D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009900"/>
            <a:ext cx="9753600" cy="2667000"/>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3E4F5ECB-7126-E924-6AE8-242EFEBF9A9D}"/>
              </a:ext>
            </a:extLst>
          </p:cNvPr>
          <p:cNvSpPr>
            <a:spLocks noGrp="1"/>
          </p:cNvSpPr>
          <p:nvPr>
            <p:ph type="sldNum" sz="quarter" idx="12"/>
          </p:nvPr>
        </p:nvSpPr>
        <p:spPr/>
        <p:txBody>
          <a:bodyPr/>
          <a:lstStyle/>
          <a:p>
            <a:fld id="{818D4B0C-12DF-447C-B791-E379AA958CE7}" type="slidenum">
              <a:rPr lang="ru-RU" smtClean="0"/>
              <a:pPr/>
              <a:t>19</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8459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B1810-0852-84F9-D754-A9A4AF5C6815}"/>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D7063A7C-58AE-6CD1-AE8F-EDEE861D76E2}"/>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0A0C7DB6-9593-A49E-2813-5ADCC7DE8F25}"/>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dirty="0">
                <a:latin typeface="Arial" panose="020B0604020202020204" pitchFamily="34" charset="0"/>
                <a:cs typeface="Arial" panose="020B0604020202020204" pitchFamily="34" charset="0"/>
              </a:rPr>
              <a:t>Применения </a:t>
            </a:r>
            <a:r>
              <a:rPr lang="en-US" sz="3000" dirty="0">
                <a:latin typeface="Arial" panose="020B0604020202020204" pitchFamily="34" charset="0"/>
                <a:cs typeface="Arial" panose="020B0604020202020204" pitchFamily="34" charset="0"/>
              </a:rPr>
              <a:t>VLM</a:t>
            </a:r>
          </a:p>
        </p:txBody>
      </p:sp>
      <p:pic>
        <p:nvPicPr>
          <p:cNvPr id="8194" name="Picture 2">
            <a:extLst>
              <a:ext uri="{FF2B5EF4-FFF2-40B4-BE49-F238E27FC236}">
                <a16:creationId xmlns:a16="http://schemas.microsoft.com/office/drawing/2014/main" id="{D37004F5-399E-06B2-3ED4-E1D11FB36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7281" y="2696912"/>
            <a:ext cx="9317439" cy="40672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DC66BFF-C67D-298E-2F5D-622DF3921C50}"/>
              </a:ext>
            </a:extLst>
          </p:cNvPr>
          <p:cNvSpPr txBox="1"/>
          <p:nvPr/>
        </p:nvSpPr>
        <p:spPr>
          <a:xfrm>
            <a:off x="838199" y="1957705"/>
            <a:ext cx="10631311" cy="923330"/>
          </a:xfrm>
          <a:prstGeom prst="rect">
            <a:avLst/>
          </a:prstGeom>
          <a:noFill/>
        </p:spPr>
        <p:txBody>
          <a:bodyPr wrap="square">
            <a:spAutoFit/>
          </a:bodyPr>
          <a:lstStyle/>
          <a:p>
            <a:pPr algn="l">
              <a:buFont typeface="Arial" panose="020B0604020202020204" pitchFamily="34" charset="0"/>
              <a:buChar char="•"/>
            </a:pPr>
            <a:r>
              <a:rPr lang="ru-RU" i="0" dirty="0">
                <a:solidFill>
                  <a:srgbClr val="222222"/>
                </a:solidFill>
                <a:effectLst/>
                <a:latin typeface="Arial" panose="020B0604020202020204" pitchFamily="34" charset="0"/>
                <a:cs typeface="Arial" panose="020B0604020202020204" pitchFamily="34" charset="0"/>
              </a:rPr>
              <a:t> </a:t>
            </a:r>
            <a:r>
              <a:rPr lang="en-US" b="1" i="0" dirty="0">
                <a:solidFill>
                  <a:srgbClr val="222222"/>
                </a:solidFill>
                <a:effectLst/>
                <a:latin typeface="Arial" panose="020B0604020202020204" pitchFamily="34" charset="0"/>
                <a:cs typeface="Arial" panose="020B0604020202020204" pitchFamily="34" charset="0"/>
              </a:rPr>
              <a:t>Image-Text Retrieval: </a:t>
            </a:r>
            <a:r>
              <a:rPr lang="en-US" i="0" dirty="0">
                <a:solidFill>
                  <a:srgbClr val="222222"/>
                </a:solidFill>
                <a:effectLst/>
                <a:latin typeface="Arial" panose="020B0604020202020204" pitchFamily="34" charset="0"/>
                <a:cs typeface="Arial" panose="020B0604020202020204" pitchFamily="34" charset="0"/>
              </a:rPr>
              <a:t>Revolutionizing search engines. Instead of just searching with text, you can use an image and text to find what you’re looking for. For instance, uploading a picture of a chair and asking, “Where can I buy a similar dining chair but in blue?”</a:t>
            </a:r>
            <a:endParaRPr lang="ru-RU" i="0" dirty="0">
              <a:solidFill>
                <a:srgbClr val="222222"/>
              </a:solidFill>
              <a:effectLst/>
              <a:latin typeface="Arial" panose="020B0604020202020204" pitchFamily="34" charset="0"/>
              <a:cs typeface="Arial" panose="020B0604020202020204" pitchFamily="34" charset="0"/>
            </a:endParaRPr>
          </a:p>
        </p:txBody>
      </p:sp>
      <p:sp>
        <p:nvSpPr>
          <p:cNvPr id="2" name="Номер слайда 1">
            <a:extLst>
              <a:ext uri="{FF2B5EF4-FFF2-40B4-BE49-F238E27FC236}">
                <a16:creationId xmlns:a16="http://schemas.microsoft.com/office/drawing/2014/main" id="{F1255789-DFAC-49FD-45CA-FFB8EF455B7E}"/>
              </a:ext>
            </a:extLst>
          </p:cNvPr>
          <p:cNvSpPr>
            <a:spLocks noGrp="1"/>
          </p:cNvSpPr>
          <p:nvPr>
            <p:ph type="sldNum" sz="quarter" idx="12"/>
          </p:nvPr>
        </p:nvSpPr>
        <p:spPr/>
        <p:txBody>
          <a:bodyPr/>
          <a:lstStyle/>
          <a:p>
            <a:fld id="{818D4B0C-12DF-447C-B791-E379AA958CE7}" type="slidenum">
              <a:rPr lang="ru-RU" smtClean="0"/>
              <a:pPr/>
              <a:t>20</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65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A499C-01A2-321E-1E13-FA725C1417B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EE23BB5C-DE13-1D23-E1D3-E54FE5CEB5B2}"/>
              </a:ext>
            </a:extLst>
          </p:cNvPr>
          <p:cNvSpPr>
            <a:spLocks noGrp="1"/>
          </p:cNvSpPr>
          <p:nvPr>
            <p:ph type="title"/>
          </p:nvPr>
        </p:nvSpPr>
        <p:spPr>
          <a:xfrm>
            <a:off x="838200" y="365125"/>
            <a:ext cx="10515600" cy="1325563"/>
          </a:xfrm>
        </p:spPr>
        <p:txBody>
          <a:bodyPr>
            <a:normAutofit/>
          </a:bodyPr>
          <a:lstStyle/>
          <a:p>
            <a:r>
              <a:rPr lang="en-US" sz="4000">
                <a:latin typeface="Arial" panose="020B0604020202020204" pitchFamily="34" charset="0"/>
                <a:cs typeface="Arial" panose="020B0604020202020204" pitchFamily="34" charset="0"/>
              </a:rPr>
              <a:t>VLM</a:t>
            </a:r>
            <a:endParaRPr lang="ru-RU" sz="4000" dirty="0">
              <a:latin typeface="Arial" panose="020B0604020202020204" pitchFamily="34" charset="0"/>
              <a:cs typeface="Arial" panose="020B0604020202020204" pitchFamily="34" charset="0"/>
            </a:endParaRPr>
          </a:p>
        </p:txBody>
      </p:sp>
      <p:sp>
        <p:nvSpPr>
          <p:cNvPr id="8" name="Заголовок 1">
            <a:extLst>
              <a:ext uri="{FF2B5EF4-FFF2-40B4-BE49-F238E27FC236}">
                <a16:creationId xmlns:a16="http://schemas.microsoft.com/office/drawing/2014/main" id="{FAD85DED-2147-E060-DBDA-9470ACEB3850}"/>
              </a:ext>
            </a:extLst>
          </p:cNvPr>
          <p:cNvSpPr txBox="1">
            <a:spLocks/>
          </p:cNvSpPr>
          <p:nvPr/>
        </p:nvSpPr>
        <p:spPr>
          <a:xfrm>
            <a:off x="838200" y="9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000" dirty="0">
                <a:latin typeface="Arial" panose="020B0604020202020204" pitchFamily="34" charset="0"/>
                <a:cs typeface="Arial" panose="020B0604020202020204" pitchFamily="34" charset="0"/>
              </a:rPr>
              <a:t>Дообучение </a:t>
            </a:r>
            <a:r>
              <a:rPr lang="en-US" sz="3000" dirty="0">
                <a:latin typeface="Arial" panose="020B0604020202020204" pitchFamily="34" charset="0"/>
                <a:cs typeface="Arial" panose="020B0604020202020204" pitchFamily="34" charset="0"/>
              </a:rPr>
              <a:t>VLM</a:t>
            </a:r>
          </a:p>
        </p:txBody>
      </p:sp>
      <p:sp>
        <p:nvSpPr>
          <p:cNvPr id="3" name="TextBox 2">
            <a:extLst>
              <a:ext uri="{FF2B5EF4-FFF2-40B4-BE49-F238E27FC236}">
                <a16:creationId xmlns:a16="http://schemas.microsoft.com/office/drawing/2014/main" id="{28F0A5D9-0B34-A279-C34E-BA3DB221177E}"/>
              </a:ext>
            </a:extLst>
          </p:cNvPr>
          <p:cNvSpPr txBox="1"/>
          <p:nvPr/>
        </p:nvSpPr>
        <p:spPr>
          <a:xfrm>
            <a:off x="838199" y="1957705"/>
            <a:ext cx="10631311" cy="369332"/>
          </a:xfrm>
          <a:prstGeom prst="rect">
            <a:avLst/>
          </a:prstGeom>
          <a:noFill/>
        </p:spPr>
        <p:txBody>
          <a:bodyPr wrap="square">
            <a:spAutoFit/>
          </a:bodyPr>
          <a:lstStyle/>
          <a:p>
            <a:pPr algn="l"/>
            <a:r>
              <a:rPr lang="en-US" dirty="0">
                <a:solidFill>
                  <a:srgbClr val="222222"/>
                </a:solidFill>
                <a:latin typeface="Arial" panose="020B0604020202020204" pitchFamily="34" charset="0"/>
                <a:cs typeface="Arial" panose="020B0604020202020204" pitchFamily="34" charset="0"/>
                <a:hlinkClick r:id="rId2"/>
              </a:rPr>
              <a:t>Vision Fine-Tuning</a:t>
            </a:r>
            <a:endParaRPr lang="ru-RU" i="0" dirty="0">
              <a:solidFill>
                <a:srgbClr val="222222"/>
              </a:solidFill>
              <a:effectLst/>
              <a:latin typeface="Arial" panose="020B0604020202020204" pitchFamily="34" charset="0"/>
              <a:cs typeface="Arial" panose="020B0604020202020204" pitchFamily="34" charset="0"/>
            </a:endParaRPr>
          </a:p>
        </p:txBody>
      </p:sp>
      <p:sp>
        <p:nvSpPr>
          <p:cNvPr id="2" name="Номер слайда 1">
            <a:extLst>
              <a:ext uri="{FF2B5EF4-FFF2-40B4-BE49-F238E27FC236}">
                <a16:creationId xmlns:a16="http://schemas.microsoft.com/office/drawing/2014/main" id="{BD408078-578A-AE7B-117E-EE9FB15429B4}"/>
              </a:ext>
            </a:extLst>
          </p:cNvPr>
          <p:cNvSpPr>
            <a:spLocks noGrp="1"/>
          </p:cNvSpPr>
          <p:nvPr>
            <p:ph type="sldNum" sz="quarter" idx="12"/>
          </p:nvPr>
        </p:nvSpPr>
        <p:spPr/>
        <p:txBody>
          <a:bodyPr/>
          <a:lstStyle/>
          <a:p>
            <a:fld id="{818D4B0C-12DF-447C-B791-E379AA958CE7}" type="slidenum">
              <a:rPr lang="ru-RU" smtClean="0"/>
              <a:pPr/>
              <a:t>21</a:t>
            </a:fld>
            <a:endParaRPr lang="ru-RU">
              <a:latin typeface="Arial" panose="020B0604020202020204" pitchFamily="34" charset="0"/>
              <a:cs typeface="Arial" panose="020B0604020202020204" pitchFamily="34" charset="0"/>
            </a:endParaRPr>
          </a:p>
        </p:txBody>
      </p:sp>
      <p:pic>
        <p:nvPicPr>
          <p:cNvPr id="9218" name="Picture 2" descr="Logo">
            <a:extLst>
              <a:ext uri="{FF2B5EF4-FFF2-40B4-BE49-F238E27FC236}">
                <a16:creationId xmlns:a16="http://schemas.microsoft.com/office/drawing/2014/main" id="{20230257-1585-94D0-8140-CF23EB6498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853" y="2863400"/>
            <a:ext cx="5142294" cy="1476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733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9D68E-4FC9-CEC9-7D4A-81A24FBADF72}"/>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Parameter Efficient fine-tuning (PEFT)</a:t>
            </a:r>
            <a:endParaRPr lang="ru-RU" sz="4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86E639-BC57-20FE-2725-773EF2BCC646}"/>
              </a:ext>
            </a:extLst>
          </p:cNvPr>
          <p:cNvSpPr txBox="1"/>
          <p:nvPr/>
        </p:nvSpPr>
        <p:spPr>
          <a:xfrm>
            <a:off x="838200" y="1690688"/>
            <a:ext cx="11308473" cy="1200329"/>
          </a:xfrm>
          <a:prstGeom prst="rect">
            <a:avLst/>
          </a:prstGeom>
          <a:noFill/>
        </p:spPr>
        <p:txBody>
          <a:bodyPr wrap="square">
            <a:spAutoFit/>
          </a:bodyPr>
          <a:lstStyle/>
          <a:p>
            <a:pPr marL="342900" indent="-342900">
              <a:buFont typeface="Arial" panose="020B0604020202020204" pitchFamily="34" charset="0"/>
              <a:buChar char="•"/>
            </a:pPr>
            <a:r>
              <a:rPr lang="en-US" sz="2400" dirty="0" err="1">
                <a:latin typeface="Arial" panose="020B0604020202020204" pitchFamily="34" charset="0"/>
                <a:cs typeface="Arial" panose="020B0604020202020204" pitchFamily="34" charset="0"/>
              </a:rPr>
              <a:t>LoRA</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err="1">
                <a:latin typeface="Arial" panose="020B0604020202020204" pitchFamily="34" charset="0"/>
                <a:cs typeface="Arial" panose="020B0604020202020204" pitchFamily="34" charset="0"/>
              </a:rPr>
              <a:t>QLoRA</a:t>
            </a:r>
            <a:endParaRPr lang="ru-RU" sz="2400" dirty="0">
              <a:latin typeface="Arial" panose="020B0604020202020204" pitchFamily="34" charset="0"/>
              <a:cs typeface="Arial" panose="020B0604020202020204" pitchFamily="34" charset="0"/>
            </a:endParaRPr>
          </a:p>
        </p:txBody>
      </p:sp>
      <p:sp>
        <p:nvSpPr>
          <p:cNvPr id="4" name="Номер слайда 1">
            <a:extLst>
              <a:ext uri="{FF2B5EF4-FFF2-40B4-BE49-F238E27FC236}">
                <a16:creationId xmlns:a16="http://schemas.microsoft.com/office/drawing/2014/main" id="{6E6DF42E-8E4D-D7A6-2D15-366FFBFB886F}"/>
              </a:ext>
            </a:extLst>
          </p:cNvPr>
          <p:cNvSpPr>
            <a:spLocks noGrp="1"/>
          </p:cNvSpPr>
          <p:nvPr>
            <p:ph type="sldNum" sz="quarter" idx="12"/>
          </p:nvPr>
        </p:nvSpPr>
        <p:spPr>
          <a:xfrm>
            <a:off x="8610600" y="6356350"/>
            <a:ext cx="2743200" cy="365125"/>
          </a:xfrm>
        </p:spPr>
        <p:txBody>
          <a:bodyPr/>
          <a:lstStyle/>
          <a:p>
            <a:fld id="{818D4B0C-12DF-447C-B791-E379AA958CE7}" type="slidenum">
              <a:rPr lang="ru-RU" smtClean="0"/>
              <a:pPr/>
              <a:t>22</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7696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9D68E-4FC9-CEC9-7D4A-81A24FBADF72}"/>
              </a:ext>
            </a:extLst>
          </p:cNvPr>
          <p:cNvSpPr>
            <a:spLocks noGrp="1"/>
          </p:cNvSpPr>
          <p:nvPr>
            <p:ph type="title"/>
          </p:nvPr>
        </p:nvSpPr>
        <p:spPr/>
        <p:txBody>
          <a:bodyPr>
            <a:normAutofit/>
          </a:bodyPr>
          <a:lstStyle/>
          <a:p>
            <a:r>
              <a:rPr lang="en-US" sz="4000" dirty="0" err="1">
                <a:latin typeface="Arial" panose="020B0604020202020204" pitchFamily="34" charset="0"/>
                <a:cs typeface="Arial" panose="020B0604020202020204" pitchFamily="34" charset="0"/>
              </a:rPr>
              <a:t>LoRA</a:t>
            </a:r>
            <a:endParaRPr lang="en-US" sz="4000" dirty="0">
              <a:latin typeface="Arial" panose="020B0604020202020204" pitchFamily="34" charset="0"/>
              <a:cs typeface="Arial" panose="020B0604020202020204" pitchFamily="34" charset="0"/>
            </a:endParaRPr>
          </a:p>
        </p:txBody>
      </p:sp>
      <p:pic>
        <p:nvPicPr>
          <p:cNvPr id="36866" name="Picture 2">
            <a:extLst>
              <a:ext uri="{FF2B5EF4-FFF2-40B4-BE49-F238E27FC236}">
                <a16:creationId xmlns:a16="http://schemas.microsoft.com/office/drawing/2014/main" id="{59164163-A53B-5B6F-24A7-49CE6E9B3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158" y="1709593"/>
            <a:ext cx="3796242" cy="36682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2CBE4A9-5FF6-2D0E-0185-5ECA6C22606D}"/>
                  </a:ext>
                </a:extLst>
              </p:cNvPr>
              <p:cNvSpPr txBox="1"/>
              <p:nvPr/>
            </p:nvSpPr>
            <p:spPr>
              <a:xfrm>
                <a:off x="6398255" y="2237336"/>
                <a:ext cx="8365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𝑊𝑥</m:t>
                      </m:r>
                    </m:oMath>
                  </m:oMathPara>
                </a14:m>
                <a:endParaRPr lang="ru-RU" dirty="0"/>
              </a:p>
            </p:txBody>
          </p:sp>
        </mc:Choice>
        <mc:Fallback xmlns="">
          <p:sp>
            <p:nvSpPr>
              <p:cNvPr id="4" name="TextBox 3">
                <a:extLst>
                  <a:ext uri="{FF2B5EF4-FFF2-40B4-BE49-F238E27FC236}">
                    <a16:creationId xmlns:a16="http://schemas.microsoft.com/office/drawing/2014/main" id="{82CBE4A9-5FF6-2D0E-0185-5ECA6C22606D}"/>
                  </a:ext>
                </a:extLst>
              </p:cNvPr>
              <p:cNvSpPr txBox="1">
                <a:spLocks noRot="1" noChangeAspect="1" noMove="1" noResize="1" noEditPoints="1" noAdjustHandles="1" noChangeArrowheads="1" noChangeShapeType="1" noTextEdit="1"/>
              </p:cNvSpPr>
              <p:nvPr/>
            </p:nvSpPr>
            <p:spPr>
              <a:xfrm>
                <a:off x="6398255" y="2237336"/>
                <a:ext cx="836511" cy="276999"/>
              </a:xfrm>
              <a:prstGeom prst="rect">
                <a:avLst/>
              </a:prstGeom>
              <a:blipFill>
                <a:blip r:embed="rId3"/>
                <a:stretch>
                  <a:fillRect l="-6569" r="-5109" b="-888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A0630E-BEE0-4829-23A0-B7F844356723}"/>
                  </a:ext>
                </a:extLst>
              </p:cNvPr>
              <p:cNvSpPr txBox="1"/>
              <p:nvPr/>
            </p:nvSpPr>
            <p:spPr>
              <a:xfrm>
                <a:off x="6398255" y="3829858"/>
                <a:ext cx="15408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𝑊𝑥</m:t>
                      </m:r>
                      <m:r>
                        <a:rPr lang="en-US" b="0" i="1" smtClean="0">
                          <a:latin typeface="Cambria Math" panose="02040503050406030204" pitchFamily="18" charset="0"/>
                        </a:rPr>
                        <m:t>+</m:t>
                      </m:r>
                      <m:r>
                        <a:rPr lang="en-US" b="0" i="1" smtClean="0">
                          <a:latin typeface="Cambria Math" panose="02040503050406030204" pitchFamily="18" charset="0"/>
                        </a:rPr>
                        <m:t>𝐵𝐴𝑥</m:t>
                      </m:r>
                    </m:oMath>
                  </m:oMathPara>
                </a14:m>
                <a:endParaRPr lang="ru-RU" dirty="0"/>
              </a:p>
            </p:txBody>
          </p:sp>
        </mc:Choice>
        <mc:Fallback xmlns="">
          <p:sp>
            <p:nvSpPr>
              <p:cNvPr id="5" name="TextBox 4">
                <a:extLst>
                  <a:ext uri="{FF2B5EF4-FFF2-40B4-BE49-F238E27FC236}">
                    <a16:creationId xmlns:a16="http://schemas.microsoft.com/office/drawing/2014/main" id="{D5A0630E-BEE0-4829-23A0-B7F844356723}"/>
                  </a:ext>
                </a:extLst>
              </p:cNvPr>
              <p:cNvSpPr txBox="1">
                <a:spLocks noRot="1" noChangeAspect="1" noMove="1" noResize="1" noEditPoints="1" noAdjustHandles="1" noChangeArrowheads="1" noChangeShapeType="1" noTextEdit="1"/>
              </p:cNvSpPr>
              <p:nvPr/>
            </p:nvSpPr>
            <p:spPr>
              <a:xfrm>
                <a:off x="6398255" y="3829858"/>
                <a:ext cx="1540806" cy="276999"/>
              </a:xfrm>
              <a:prstGeom prst="rect">
                <a:avLst/>
              </a:prstGeom>
              <a:blipFill>
                <a:blip r:embed="rId4"/>
                <a:stretch>
                  <a:fillRect l="-3571" r="-3175" b="-6522"/>
                </a:stretch>
              </a:blipFill>
            </p:spPr>
            <p:txBody>
              <a:bodyPr/>
              <a:lstStyle/>
              <a:p>
                <a:r>
                  <a:rPr lang="ru-RU">
                    <a:noFill/>
                  </a:rPr>
                  <a:t> </a:t>
                </a:r>
              </a:p>
            </p:txBody>
          </p:sp>
        </mc:Fallback>
      </mc:AlternateContent>
      <p:sp>
        <p:nvSpPr>
          <p:cNvPr id="6" name="TextBox 5">
            <a:extLst>
              <a:ext uri="{FF2B5EF4-FFF2-40B4-BE49-F238E27FC236}">
                <a16:creationId xmlns:a16="http://schemas.microsoft.com/office/drawing/2014/main" id="{39EEA081-171A-2C11-7591-9A2F7D8CCB13}"/>
              </a:ext>
            </a:extLst>
          </p:cNvPr>
          <p:cNvSpPr txBox="1"/>
          <p:nvPr/>
        </p:nvSpPr>
        <p:spPr>
          <a:xfrm>
            <a:off x="5960533" y="1770845"/>
            <a:ext cx="2548467"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Линейный слой</a:t>
            </a:r>
          </a:p>
        </p:txBody>
      </p:sp>
      <p:sp>
        <p:nvSpPr>
          <p:cNvPr id="7" name="TextBox 6">
            <a:extLst>
              <a:ext uri="{FF2B5EF4-FFF2-40B4-BE49-F238E27FC236}">
                <a16:creationId xmlns:a16="http://schemas.microsoft.com/office/drawing/2014/main" id="{CC1DE673-4356-4C22-9FB0-1E20A29EBEE0}"/>
              </a:ext>
            </a:extLst>
          </p:cNvPr>
          <p:cNvSpPr txBox="1"/>
          <p:nvPr/>
        </p:nvSpPr>
        <p:spPr>
          <a:xfrm>
            <a:off x="5960533" y="3105834"/>
            <a:ext cx="4292599"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Линейный слой после добавления обучаемых матриц </a:t>
            </a:r>
            <a:r>
              <a:rPr lang="en-US" dirty="0">
                <a:latin typeface="Arial" panose="020B0604020202020204" pitchFamily="34" charset="0"/>
                <a:cs typeface="Arial" panose="020B0604020202020204" pitchFamily="34" charset="0"/>
              </a:rPr>
              <a:t>A </a:t>
            </a:r>
            <a:r>
              <a:rPr lang="ru-RU" dirty="0">
                <a:latin typeface="Arial" panose="020B0604020202020204" pitchFamily="34" charset="0"/>
                <a:cs typeface="Arial" panose="020B0604020202020204" pitchFamily="34" charset="0"/>
              </a:rPr>
              <a:t>и </a:t>
            </a:r>
            <a:r>
              <a:rPr lang="en-US" dirty="0">
                <a:latin typeface="Arial" panose="020B0604020202020204" pitchFamily="34" charset="0"/>
                <a:cs typeface="Arial" panose="020B0604020202020204" pitchFamily="34" charset="0"/>
              </a:rPr>
              <a:t>B</a:t>
            </a:r>
            <a:endParaRPr lang="ru-RU"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D829578-CCC4-46D1-32DD-B8F2636E4DB1}"/>
              </a:ext>
            </a:extLst>
          </p:cNvPr>
          <p:cNvSpPr txBox="1"/>
          <p:nvPr/>
        </p:nvSpPr>
        <p:spPr>
          <a:xfrm>
            <a:off x="5960533" y="4500709"/>
            <a:ext cx="6096000" cy="1754326"/>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При этом матрица W имеет размерность [d, d], а матрицы A и B — размерности [d, r] и [r, d] соответственно, где r &lt;&lt; d</a:t>
            </a:r>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(обычные значения d — это 8, 16, 32).</a:t>
            </a:r>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Таким образом, мы обучаем только 2 * r * d параметров вместо d * d</a:t>
            </a:r>
          </a:p>
        </p:txBody>
      </p:sp>
      <p:sp>
        <p:nvSpPr>
          <p:cNvPr id="3" name="Номер слайда 1">
            <a:extLst>
              <a:ext uri="{FF2B5EF4-FFF2-40B4-BE49-F238E27FC236}">
                <a16:creationId xmlns:a16="http://schemas.microsoft.com/office/drawing/2014/main" id="{AC7C562A-C281-062E-FB7D-CF743C469B22}"/>
              </a:ext>
            </a:extLst>
          </p:cNvPr>
          <p:cNvSpPr>
            <a:spLocks noGrp="1"/>
          </p:cNvSpPr>
          <p:nvPr>
            <p:ph type="sldNum" sz="quarter" idx="12"/>
          </p:nvPr>
        </p:nvSpPr>
        <p:spPr>
          <a:xfrm>
            <a:off x="8610600" y="6356350"/>
            <a:ext cx="2743200" cy="365125"/>
          </a:xfrm>
        </p:spPr>
        <p:txBody>
          <a:bodyPr/>
          <a:lstStyle/>
          <a:p>
            <a:fld id="{818D4B0C-12DF-447C-B791-E379AA958CE7}" type="slidenum">
              <a:rPr lang="ru-RU" smtClean="0"/>
              <a:pPr/>
              <a:t>23</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8149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9D68E-4FC9-CEC9-7D4A-81A24FBADF72}"/>
              </a:ext>
            </a:extLst>
          </p:cNvPr>
          <p:cNvSpPr>
            <a:spLocks noGrp="1"/>
          </p:cNvSpPr>
          <p:nvPr>
            <p:ph type="title"/>
          </p:nvPr>
        </p:nvSpPr>
        <p:spPr/>
        <p:txBody>
          <a:bodyPr>
            <a:normAutofit/>
          </a:bodyPr>
          <a:lstStyle/>
          <a:p>
            <a:r>
              <a:rPr lang="en-US" sz="4000" dirty="0" err="1">
                <a:latin typeface="Arial" panose="020B0604020202020204" pitchFamily="34" charset="0"/>
                <a:cs typeface="Arial" panose="020B0604020202020204" pitchFamily="34" charset="0"/>
              </a:rPr>
              <a:t>QLoRA</a:t>
            </a:r>
            <a:endParaRPr lang="en-US" sz="4000" dirty="0">
              <a:latin typeface="Arial" panose="020B0604020202020204" pitchFamily="34" charset="0"/>
              <a:cs typeface="Arial" panose="020B0604020202020204" pitchFamily="34" charset="0"/>
            </a:endParaRPr>
          </a:p>
        </p:txBody>
      </p:sp>
      <p:pic>
        <p:nvPicPr>
          <p:cNvPr id="39938" name="Picture 2">
            <a:extLst>
              <a:ext uri="{FF2B5EF4-FFF2-40B4-BE49-F238E27FC236}">
                <a16:creationId xmlns:a16="http://schemas.microsoft.com/office/drawing/2014/main" id="{00006B52-047C-5BAA-1C5E-66EA31C69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171303"/>
            <a:ext cx="6096000" cy="2515394"/>
          </a:xfrm>
          <a:prstGeom prst="rect">
            <a:avLst/>
          </a:prstGeom>
          <a:noFill/>
          <a:extLst>
            <a:ext uri="{909E8E84-426E-40DD-AFC4-6F175D3DCCD1}">
              <a14:hiddenFill xmlns:a14="http://schemas.microsoft.com/office/drawing/2010/main">
                <a:solidFill>
                  <a:srgbClr val="FFFFFF"/>
                </a:solidFill>
              </a14:hiddenFill>
            </a:ext>
          </a:extLst>
        </p:spPr>
      </p:pic>
      <p:sp>
        <p:nvSpPr>
          <p:cNvPr id="3" name="Номер слайда 1">
            <a:extLst>
              <a:ext uri="{FF2B5EF4-FFF2-40B4-BE49-F238E27FC236}">
                <a16:creationId xmlns:a16="http://schemas.microsoft.com/office/drawing/2014/main" id="{6D530743-B8B4-ED14-70D0-DE62ACC3F73D}"/>
              </a:ext>
            </a:extLst>
          </p:cNvPr>
          <p:cNvSpPr>
            <a:spLocks noGrp="1"/>
          </p:cNvSpPr>
          <p:nvPr>
            <p:ph type="sldNum" sz="quarter" idx="12"/>
          </p:nvPr>
        </p:nvSpPr>
        <p:spPr>
          <a:xfrm>
            <a:off x="8610600" y="6356350"/>
            <a:ext cx="2743200" cy="365125"/>
          </a:xfrm>
        </p:spPr>
        <p:txBody>
          <a:bodyPr/>
          <a:lstStyle/>
          <a:p>
            <a:fld id="{818D4B0C-12DF-447C-B791-E379AA958CE7}" type="slidenum">
              <a:rPr lang="ru-RU" smtClean="0"/>
              <a:pPr/>
              <a:t>24</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7185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5197D-3900-9131-6559-52EAE3637A5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ADEBCC-406D-F500-1139-89ECDF74029A}"/>
              </a:ext>
            </a:extLst>
          </p:cNvPr>
          <p:cNvSpPr>
            <a:spLocks noGrp="1"/>
          </p:cNvSpPr>
          <p:nvPr>
            <p:ph type="ctrTitle"/>
          </p:nvPr>
        </p:nvSpPr>
        <p:spPr/>
        <p:txBody>
          <a:bodyPr>
            <a:normAutofit/>
          </a:bodyPr>
          <a:lstStyle/>
          <a:p>
            <a:r>
              <a:rPr lang="ru-RU" sz="4400" dirty="0">
                <a:latin typeface="Arial" panose="020B0604020202020204" pitchFamily="34" charset="0"/>
                <a:cs typeface="Arial" panose="020B0604020202020204" pitchFamily="34" charset="0"/>
              </a:rPr>
              <a:t>Диффузионные модели</a:t>
            </a:r>
          </a:p>
        </p:txBody>
      </p:sp>
      <p:sp>
        <p:nvSpPr>
          <p:cNvPr id="4" name="Номер слайда 3">
            <a:extLst>
              <a:ext uri="{FF2B5EF4-FFF2-40B4-BE49-F238E27FC236}">
                <a16:creationId xmlns:a16="http://schemas.microsoft.com/office/drawing/2014/main" id="{195B6480-EC09-1F42-65F2-6E23983AA3AB}"/>
              </a:ext>
            </a:extLst>
          </p:cNvPr>
          <p:cNvSpPr>
            <a:spLocks noGrp="1"/>
          </p:cNvSpPr>
          <p:nvPr>
            <p:ph type="sldNum" sz="quarter" idx="12"/>
          </p:nvPr>
        </p:nvSpPr>
        <p:spPr/>
        <p:txBody>
          <a:bodyPr/>
          <a:lstStyle/>
          <a:p>
            <a:fld id="{818D4B0C-12DF-447C-B791-E379AA958CE7}" type="slidenum">
              <a:rPr lang="ru-RU" smtClean="0"/>
              <a:pPr/>
              <a:t>25</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9087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sp>
        <p:nvSpPr>
          <p:cNvPr id="3" name="TextBox 2">
            <a:extLst>
              <a:ext uri="{FF2B5EF4-FFF2-40B4-BE49-F238E27FC236}">
                <a16:creationId xmlns:a16="http://schemas.microsoft.com/office/drawing/2014/main" id="{509A35E5-B7E0-DCB4-F789-EBC0054DD211}"/>
              </a:ext>
            </a:extLst>
          </p:cNvPr>
          <p:cNvSpPr txBox="1"/>
          <p:nvPr/>
        </p:nvSpPr>
        <p:spPr>
          <a:xfrm>
            <a:off x="924560" y="1917115"/>
            <a:ext cx="1017016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hlinkClick r:id="rId2"/>
              </a:rPr>
              <a:t>https://colab.research.google.com/drive/10YxVSMICltPUkGD6R-Wj4EqTj0IbXRQn?usp=sharing</a:t>
            </a:r>
            <a:endParaRPr lang="ru-RU"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B8BA013-84EB-6BFB-2AB7-74405F2C4617}"/>
              </a:ext>
            </a:extLst>
          </p:cNvPr>
          <p:cNvSpPr txBox="1"/>
          <p:nvPr/>
        </p:nvSpPr>
        <p:spPr>
          <a:xfrm>
            <a:off x="924560" y="2414955"/>
            <a:ext cx="1075944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hlinkClick r:id="rId3"/>
              </a:rPr>
              <a:t>https://colab.research.google.com/drive/1xK5CALh7frhbKLg5ICBAiHCSA-AvVfw4?usp=sharing</a:t>
            </a:r>
            <a:endParaRPr lang="ru-RU" dirty="0">
              <a:latin typeface="Arial" panose="020B0604020202020204" pitchFamily="34" charset="0"/>
              <a:cs typeface="Arial" panose="020B0604020202020204" pitchFamily="34" charset="0"/>
            </a:endParaRPr>
          </a:p>
        </p:txBody>
      </p:sp>
      <p:sp>
        <p:nvSpPr>
          <p:cNvPr id="2" name="Номер слайда 1">
            <a:extLst>
              <a:ext uri="{FF2B5EF4-FFF2-40B4-BE49-F238E27FC236}">
                <a16:creationId xmlns:a16="http://schemas.microsoft.com/office/drawing/2014/main" id="{52D45012-85F3-D793-7508-DA4095DB1A5E}"/>
              </a:ext>
            </a:extLst>
          </p:cNvPr>
          <p:cNvSpPr>
            <a:spLocks noGrp="1"/>
          </p:cNvSpPr>
          <p:nvPr>
            <p:ph type="sldNum" sz="quarter" idx="12"/>
          </p:nvPr>
        </p:nvSpPr>
        <p:spPr/>
        <p:txBody>
          <a:bodyPr/>
          <a:lstStyle/>
          <a:p>
            <a:fld id="{818D4B0C-12DF-447C-B791-E379AA958CE7}" type="slidenum">
              <a:rPr lang="ru-RU" smtClean="0"/>
              <a:pPr/>
              <a:t>26</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261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21506" name="Picture 2">
            <a:extLst>
              <a:ext uri="{FF2B5EF4-FFF2-40B4-BE49-F238E27FC236}">
                <a16:creationId xmlns:a16="http://schemas.microsoft.com/office/drawing/2014/main" id="{CD8C82A3-23CD-54DC-7DED-6E631DF83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3" y="1947863"/>
            <a:ext cx="8715375" cy="2962275"/>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7E6BBE4F-A474-F754-1497-B5155F6FEB30}"/>
              </a:ext>
            </a:extLst>
          </p:cNvPr>
          <p:cNvSpPr>
            <a:spLocks noGrp="1"/>
          </p:cNvSpPr>
          <p:nvPr>
            <p:ph type="sldNum" sz="quarter" idx="12"/>
          </p:nvPr>
        </p:nvSpPr>
        <p:spPr/>
        <p:txBody>
          <a:bodyPr/>
          <a:lstStyle/>
          <a:p>
            <a:fld id="{818D4B0C-12DF-447C-B791-E379AA958CE7}" type="slidenum">
              <a:rPr lang="ru-RU" smtClean="0"/>
              <a:pPr/>
              <a:t>27</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565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8" name="Рисунок 7">
            <a:extLst>
              <a:ext uri="{FF2B5EF4-FFF2-40B4-BE49-F238E27FC236}">
                <a16:creationId xmlns:a16="http://schemas.microsoft.com/office/drawing/2014/main" id="{D74F0542-3DAB-5526-1F9A-704FD4430FE0}"/>
              </a:ext>
            </a:extLst>
          </p:cNvPr>
          <p:cNvPicPr>
            <a:picLocks noChangeAspect="1"/>
          </p:cNvPicPr>
          <p:nvPr/>
        </p:nvPicPr>
        <p:blipFill>
          <a:blip r:embed="rId2"/>
          <a:stretch>
            <a:fillRect/>
          </a:stretch>
        </p:blipFill>
        <p:spPr>
          <a:xfrm>
            <a:off x="714375" y="1690688"/>
            <a:ext cx="10763250" cy="4191000"/>
          </a:xfrm>
          <a:prstGeom prst="rect">
            <a:avLst/>
          </a:prstGeom>
        </p:spPr>
      </p:pic>
      <p:sp>
        <p:nvSpPr>
          <p:cNvPr id="2" name="Номер слайда 1">
            <a:extLst>
              <a:ext uri="{FF2B5EF4-FFF2-40B4-BE49-F238E27FC236}">
                <a16:creationId xmlns:a16="http://schemas.microsoft.com/office/drawing/2014/main" id="{C4241A72-BDA4-4FD6-906F-DFDCE3625E32}"/>
              </a:ext>
            </a:extLst>
          </p:cNvPr>
          <p:cNvSpPr>
            <a:spLocks noGrp="1"/>
          </p:cNvSpPr>
          <p:nvPr>
            <p:ph type="sldNum" sz="quarter" idx="12"/>
          </p:nvPr>
        </p:nvSpPr>
        <p:spPr/>
        <p:txBody>
          <a:bodyPr/>
          <a:lstStyle/>
          <a:p>
            <a:fld id="{818D4B0C-12DF-447C-B791-E379AA958CE7}" type="slidenum">
              <a:rPr lang="ru-RU" smtClean="0"/>
              <a:pPr/>
              <a:t>28</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4666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5" name="Рисунок 4">
            <a:extLst>
              <a:ext uri="{FF2B5EF4-FFF2-40B4-BE49-F238E27FC236}">
                <a16:creationId xmlns:a16="http://schemas.microsoft.com/office/drawing/2014/main" id="{CA33418D-4952-5DAC-1017-766665FF8EAC}"/>
              </a:ext>
            </a:extLst>
          </p:cNvPr>
          <p:cNvPicPr>
            <a:picLocks noChangeAspect="1"/>
          </p:cNvPicPr>
          <p:nvPr/>
        </p:nvPicPr>
        <p:blipFill>
          <a:blip r:embed="rId2"/>
          <a:stretch>
            <a:fillRect/>
          </a:stretch>
        </p:blipFill>
        <p:spPr>
          <a:xfrm>
            <a:off x="1400810" y="1509533"/>
            <a:ext cx="9390380" cy="4983342"/>
          </a:xfrm>
          <a:prstGeom prst="rect">
            <a:avLst/>
          </a:prstGeom>
        </p:spPr>
      </p:pic>
      <p:sp>
        <p:nvSpPr>
          <p:cNvPr id="2" name="Номер слайда 1">
            <a:extLst>
              <a:ext uri="{FF2B5EF4-FFF2-40B4-BE49-F238E27FC236}">
                <a16:creationId xmlns:a16="http://schemas.microsoft.com/office/drawing/2014/main" id="{DE6A083C-15BB-56A4-E1C6-4E81205B8DDC}"/>
              </a:ext>
            </a:extLst>
          </p:cNvPr>
          <p:cNvSpPr>
            <a:spLocks noGrp="1"/>
          </p:cNvSpPr>
          <p:nvPr>
            <p:ph type="sldNum" sz="quarter" idx="12"/>
          </p:nvPr>
        </p:nvSpPr>
        <p:spPr/>
        <p:txBody>
          <a:bodyPr/>
          <a:lstStyle/>
          <a:p>
            <a:fld id="{818D4B0C-12DF-447C-B791-E379AA958CE7}" type="slidenum">
              <a:rPr lang="ru-RU" smtClean="0"/>
              <a:pPr/>
              <a:t>29</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1203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3" name="Рисунок 2">
            <a:extLst>
              <a:ext uri="{FF2B5EF4-FFF2-40B4-BE49-F238E27FC236}">
                <a16:creationId xmlns:a16="http://schemas.microsoft.com/office/drawing/2014/main" id="{FFDAE44B-4C28-8EF9-551B-A0E0B8A4C03F}"/>
              </a:ext>
            </a:extLst>
          </p:cNvPr>
          <p:cNvPicPr>
            <a:picLocks noChangeAspect="1"/>
          </p:cNvPicPr>
          <p:nvPr/>
        </p:nvPicPr>
        <p:blipFill>
          <a:blip r:embed="rId2"/>
          <a:stretch>
            <a:fillRect/>
          </a:stretch>
        </p:blipFill>
        <p:spPr>
          <a:xfrm>
            <a:off x="2938780" y="1307564"/>
            <a:ext cx="6314440" cy="5331678"/>
          </a:xfrm>
          <a:prstGeom prst="rect">
            <a:avLst/>
          </a:prstGeom>
        </p:spPr>
      </p:pic>
      <p:sp>
        <p:nvSpPr>
          <p:cNvPr id="2" name="Номер слайда 1">
            <a:extLst>
              <a:ext uri="{FF2B5EF4-FFF2-40B4-BE49-F238E27FC236}">
                <a16:creationId xmlns:a16="http://schemas.microsoft.com/office/drawing/2014/main" id="{9CBBF9B8-5D5D-1501-279E-DC3A4517BED1}"/>
              </a:ext>
            </a:extLst>
          </p:cNvPr>
          <p:cNvSpPr>
            <a:spLocks noGrp="1"/>
          </p:cNvSpPr>
          <p:nvPr>
            <p:ph type="sldNum" sz="quarter" idx="12"/>
          </p:nvPr>
        </p:nvSpPr>
        <p:spPr/>
        <p:txBody>
          <a:bodyPr/>
          <a:lstStyle/>
          <a:p>
            <a:fld id="{818D4B0C-12DF-447C-B791-E379AA958CE7}" type="slidenum">
              <a:rPr lang="ru-RU" smtClean="0"/>
              <a:pPr/>
              <a:t>30</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8216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24578" name="Picture 2" descr="All equations used to define the forward and reverse diffusion process in denoising diffusion probabilistic models (DDPMs). ">
            <a:extLst>
              <a:ext uri="{FF2B5EF4-FFF2-40B4-BE49-F238E27FC236}">
                <a16:creationId xmlns:a16="http://schemas.microsoft.com/office/drawing/2014/main" id="{31ADB45C-FCB1-97A0-859F-ED5992F12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310" y="1281495"/>
            <a:ext cx="9263380" cy="510089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242FC5-4E93-9BE5-E375-EA6C42012C5F}"/>
              </a:ext>
            </a:extLst>
          </p:cNvPr>
          <p:cNvSpPr txBox="1"/>
          <p:nvPr/>
        </p:nvSpPr>
        <p:spPr>
          <a:xfrm>
            <a:off x="2473960" y="6382385"/>
            <a:ext cx="7244080"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https://learnopencv.com/denoising-diffusion-probabilistic-models/</a:t>
            </a:r>
          </a:p>
        </p:txBody>
      </p:sp>
      <p:sp>
        <p:nvSpPr>
          <p:cNvPr id="2" name="Номер слайда 1">
            <a:extLst>
              <a:ext uri="{FF2B5EF4-FFF2-40B4-BE49-F238E27FC236}">
                <a16:creationId xmlns:a16="http://schemas.microsoft.com/office/drawing/2014/main" id="{3396AE99-ADAB-F1FF-9598-DDB8364386B5}"/>
              </a:ext>
            </a:extLst>
          </p:cNvPr>
          <p:cNvSpPr>
            <a:spLocks noGrp="1"/>
          </p:cNvSpPr>
          <p:nvPr>
            <p:ph type="sldNum" sz="quarter" idx="12"/>
          </p:nvPr>
        </p:nvSpPr>
        <p:spPr/>
        <p:txBody>
          <a:bodyPr/>
          <a:lstStyle/>
          <a:p>
            <a:fld id="{818D4B0C-12DF-447C-B791-E379AA958CE7}" type="slidenum">
              <a:rPr lang="ru-RU" smtClean="0"/>
              <a:pPr/>
              <a:t>31</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4268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23554" name="Picture 2">
            <a:extLst>
              <a:ext uri="{FF2B5EF4-FFF2-40B4-BE49-F238E27FC236}">
                <a16:creationId xmlns:a16="http://schemas.microsoft.com/office/drawing/2014/main" id="{D0BFBD85-339C-7F65-938F-625ACE54B2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7490"/>
            <a:ext cx="12192000" cy="45339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4ADD5A-30BB-82CF-EF34-51F44BD11F0D}"/>
              </a:ext>
            </a:extLst>
          </p:cNvPr>
          <p:cNvSpPr txBox="1"/>
          <p:nvPr/>
        </p:nvSpPr>
        <p:spPr>
          <a:xfrm>
            <a:off x="2473960" y="6123543"/>
            <a:ext cx="7244080"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https://learnopencv.com/denoising-diffusion-probabilistic-models/</a:t>
            </a:r>
          </a:p>
        </p:txBody>
      </p:sp>
      <p:sp>
        <p:nvSpPr>
          <p:cNvPr id="3" name="Номер слайда 2">
            <a:extLst>
              <a:ext uri="{FF2B5EF4-FFF2-40B4-BE49-F238E27FC236}">
                <a16:creationId xmlns:a16="http://schemas.microsoft.com/office/drawing/2014/main" id="{C0B3287C-A576-48A5-9A55-ECADE987B4A7}"/>
              </a:ext>
            </a:extLst>
          </p:cNvPr>
          <p:cNvSpPr>
            <a:spLocks noGrp="1"/>
          </p:cNvSpPr>
          <p:nvPr>
            <p:ph type="sldNum" sz="quarter" idx="12"/>
          </p:nvPr>
        </p:nvSpPr>
        <p:spPr/>
        <p:txBody>
          <a:bodyPr/>
          <a:lstStyle/>
          <a:p>
            <a:fld id="{818D4B0C-12DF-447C-B791-E379AA958CE7}" type="slidenum">
              <a:rPr lang="ru-RU" smtClean="0"/>
              <a:pPr/>
              <a:t>32</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3926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17410" name="Picture 2" descr="Expanded xt term in simplified DDPM loss function.">
            <a:extLst>
              <a:ext uri="{FF2B5EF4-FFF2-40B4-BE49-F238E27FC236}">
                <a16:creationId xmlns:a16="http://schemas.microsoft.com/office/drawing/2014/main" id="{F593ADAC-1918-0795-8EE8-B779F9559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91080"/>
            <a:ext cx="12192000" cy="1312863"/>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The simplified loss function we train the neural network to minimize in denoising diffusion probabilistic models (DDPMs).">
            <a:extLst>
              <a:ext uri="{FF2B5EF4-FFF2-40B4-BE49-F238E27FC236}">
                <a16:creationId xmlns:a16="http://schemas.microsoft.com/office/drawing/2014/main" id="{138FB96E-FB89-1C7C-350F-B217FDC42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5783" y="3429000"/>
            <a:ext cx="8560435" cy="1214753"/>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24BE2194-D94B-BB27-1216-E674B09A99DB}"/>
              </a:ext>
            </a:extLst>
          </p:cNvPr>
          <p:cNvSpPr>
            <a:spLocks noGrp="1"/>
          </p:cNvSpPr>
          <p:nvPr>
            <p:ph type="sldNum" sz="quarter" idx="12"/>
          </p:nvPr>
        </p:nvSpPr>
        <p:spPr/>
        <p:txBody>
          <a:bodyPr/>
          <a:lstStyle/>
          <a:p>
            <a:fld id="{818D4B0C-12DF-447C-B791-E379AA958CE7}" type="slidenum">
              <a:rPr lang="ru-RU" smtClean="0"/>
              <a:pPr/>
              <a:t>33</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2870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16386" name="Picture 2">
            <a:extLst>
              <a:ext uri="{FF2B5EF4-FFF2-40B4-BE49-F238E27FC236}">
                <a16:creationId xmlns:a16="http://schemas.microsoft.com/office/drawing/2014/main" id="{93EAA34E-DE76-90A8-7178-9D86FBB87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22463"/>
            <a:ext cx="12192000" cy="3011487"/>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6E6D552F-836A-5B20-C14F-79BA99F74C6A}"/>
              </a:ext>
            </a:extLst>
          </p:cNvPr>
          <p:cNvSpPr>
            <a:spLocks noGrp="1"/>
          </p:cNvSpPr>
          <p:nvPr>
            <p:ph type="sldNum" sz="quarter" idx="12"/>
          </p:nvPr>
        </p:nvSpPr>
        <p:spPr/>
        <p:txBody>
          <a:bodyPr/>
          <a:lstStyle/>
          <a:p>
            <a:fld id="{818D4B0C-12DF-447C-B791-E379AA958CE7}" type="slidenum">
              <a:rPr lang="ru-RU" smtClean="0"/>
              <a:pPr/>
              <a:t>34</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5367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14338" name="Picture 2" descr="The architecture of the UNet model used in denoising diffusion probabilistic models (DDPMs).">
            <a:extLst>
              <a:ext uri="{FF2B5EF4-FFF2-40B4-BE49-F238E27FC236}">
                <a16:creationId xmlns:a16="http://schemas.microsoft.com/office/drawing/2014/main" id="{D6E29595-77C4-15A2-C703-DD061F52D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4012"/>
            <a:ext cx="12192000" cy="4868863"/>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07A2DA71-7910-EFD0-A294-AB8B4C81E663}"/>
              </a:ext>
            </a:extLst>
          </p:cNvPr>
          <p:cNvSpPr>
            <a:spLocks noGrp="1"/>
          </p:cNvSpPr>
          <p:nvPr>
            <p:ph type="sldNum" sz="quarter" idx="12"/>
          </p:nvPr>
        </p:nvSpPr>
        <p:spPr/>
        <p:txBody>
          <a:bodyPr/>
          <a:lstStyle/>
          <a:p>
            <a:fld id="{818D4B0C-12DF-447C-B791-E379AA958CE7}" type="slidenum">
              <a:rPr lang="ru-RU" smtClean="0"/>
              <a:pPr/>
              <a:t>35</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2264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4D6614C-C6F1-ADC9-7549-AF9DDA05B3C9}"/>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pic>
        <p:nvPicPr>
          <p:cNvPr id="15362" name="Picture 2" descr="stable-diffusion">
            <a:extLst>
              <a:ext uri="{FF2B5EF4-FFF2-40B4-BE49-F238E27FC236}">
                <a16:creationId xmlns:a16="http://schemas.microsoft.com/office/drawing/2014/main" id="{ED538548-E85A-1BDD-1993-3AE00986AB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020" y="1408202"/>
            <a:ext cx="9585960" cy="4928781"/>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718C4B39-CDA8-79C3-0825-ABE7A5BEEAFB}"/>
              </a:ext>
            </a:extLst>
          </p:cNvPr>
          <p:cNvSpPr>
            <a:spLocks noGrp="1"/>
          </p:cNvSpPr>
          <p:nvPr>
            <p:ph type="sldNum" sz="quarter" idx="12"/>
          </p:nvPr>
        </p:nvSpPr>
        <p:spPr/>
        <p:txBody>
          <a:bodyPr/>
          <a:lstStyle/>
          <a:p>
            <a:fld id="{818D4B0C-12DF-447C-B791-E379AA958CE7}" type="slidenum">
              <a:rPr lang="ru-RU" smtClean="0"/>
              <a:pPr/>
              <a:t>36</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19448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5FC5B877-7744-02C7-BCDF-A4D8DE00D7D0}"/>
              </a:ext>
            </a:extLst>
          </p:cNvPr>
          <p:cNvSpPr>
            <a:spLocks noGrp="1"/>
          </p:cNvSpPr>
          <p:nvPr>
            <p:ph type="title"/>
          </p:nvPr>
        </p:nvSpPr>
        <p:spPr>
          <a:xfrm>
            <a:off x="838200" y="365125"/>
            <a:ext cx="10515600" cy="1325563"/>
          </a:xfrm>
        </p:spPr>
        <p:txBody>
          <a:bodyPr>
            <a:normAutofit/>
          </a:bodyPr>
          <a:lstStyle/>
          <a:p>
            <a:r>
              <a:rPr lang="ru-RU" sz="4000" dirty="0">
                <a:latin typeface="Arial" panose="020B0604020202020204" pitchFamily="34" charset="0"/>
                <a:cs typeface="Arial" panose="020B0604020202020204" pitchFamily="34" charset="0"/>
              </a:rPr>
              <a:t>Диффузионные модели</a:t>
            </a:r>
          </a:p>
        </p:txBody>
      </p:sp>
      <p:sp>
        <p:nvSpPr>
          <p:cNvPr id="14" name="TextBox 13">
            <a:extLst>
              <a:ext uri="{FF2B5EF4-FFF2-40B4-BE49-F238E27FC236}">
                <a16:creationId xmlns:a16="http://schemas.microsoft.com/office/drawing/2014/main" id="{AE2939E9-F1E8-EABC-F23F-E56A6B3A61BD}"/>
              </a:ext>
            </a:extLst>
          </p:cNvPr>
          <p:cNvSpPr txBox="1"/>
          <p:nvPr/>
        </p:nvSpPr>
        <p:spPr>
          <a:xfrm>
            <a:off x="838200" y="1832094"/>
            <a:ext cx="6096000"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hlinkClick r:id="rId2"/>
              </a:rPr>
              <a:t>Diffusion Models: Tutorial and Survey</a:t>
            </a:r>
            <a:endParaRPr lang="ru-RU" sz="16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CAB23CF-B017-0241-989B-928969F2F81C}"/>
              </a:ext>
            </a:extLst>
          </p:cNvPr>
          <p:cNvSpPr txBox="1"/>
          <p:nvPr/>
        </p:nvSpPr>
        <p:spPr>
          <a:xfrm>
            <a:off x="838200" y="2202670"/>
            <a:ext cx="6096000"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hlinkClick r:id="rId3"/>
              </a:rPr>
              <a:t>Lecture Notes in Probabilistic Diffusion Models</a:t>
            </a:r>
            <a:endParaRPr lang="ru-RU" sz="16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05262521-FB12-66EB-F415-BC2206F12D5F}"/>
              </a:ext>
            </a:extLst>
          </p:cNvPr>
          <p:cNvSpPr txBox="1"/>
          <p:nvPr/>
        </p:nvSpPr>
        <p:spPr>
          <a:xfrm>
            <a:off x="838200" y="2573246"/>
            <a:ext cx="6096000" cy="338554"/>
          </a:xfrm>
          <a:prstGeom prst="rect">
            <a:avLst/>
          </a:prstGeom>
          <a:noFill/>
        </p:spPr>
        <p:txBody>
          <a:bodyPr wrap="square">
            <a:spAutoFit/>
          </a:bodyPr>
          <a:lstStyle/>
          <a:p>
            <a:r>
              <a:rPr lang="en-US" sz="1600" b="0" i="0" u="none" strike="noStrike" baseline="0" dirty="0">
                <a:latin typeface="Arial" panose="020B0604020202020204" pitchFamily="34" charset="0"/>
                <a:cs typeface="Arial" panose="020B0604020202020204" pitchFamily="34" charset="0"/>
                <a:hlinkClick r:id="rId4"/>
              </a:rPr>
              <a:t>Denoising Diffusion Probabilistic Models</a:t>
            </a:r>
            <a:endParaRPr lang="ru-RU" sz="16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35A6004E-2EEF-5F05-7B94-0515AFCD595A}"/>
              </a:ext>
            </a:extLst>
          </p:cNvPr>
          <p:cNvSpPr txBox="1"/>
          <p:nvPr/>
        </p:nvSpPr>
        <p:spPr>
          <a:xfrm>
            <a:off x="838200" y="2943822"/>
            <a:ext cx="6096000" cy="338554"/>
          </a:xfrm>
          <a:prstGeom prst="rect">
            <a:avLst/>
          </a:prstGeom>
          <a:noFill/>
        </p:spPr>
        <p:txBody>
          <a:bodyPr wrap="square">
            <a:spAutoFit/>
          </a:bodyPr>
          <a:lstStyle/>
          <a:p>
            <a:pPr algn="l"/>
            <a:r>
              <a:rPr lang="en-US" sz="1600" i="0" dirty="0">
                <a:solidFill>
                  <a:srgbClr val="2F4858"/>
                </a:solidFill>
                <a:effectLst/>
                <a:latin typeface="Arial" panose="020B0604020202020204" pitchFamily="34" charset="0"/>
                <a:cs typeface="Arial" panose="020B0604020202020204" pitchFamily="34" charset="0"/>
                <a:hlinkClick r:id="rId5"/>
              </a:rPr>
              <a:t>How diffusion models work: the math from scratch</a:t>
            </a:r>
            <a:endParaRPr lang="en-US" sz="1600" i="0" dirty="0">
              <a:solidFill>
                <a:srgbClr val="2F4858"/>
              </a:solidFill>
              <a:effectLst/>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EC4DA20B-9856-038D-3B28-8FD840E23DDA}"/>
              </a:ext>
            </a:extLst>
          </p:cNvPr>
          <p:cNvSpPr txBox="1"/>
          <p:nvPr/>
        </p:nvSpPr>
        <p:spPr>
          <a:xfrm>
            <a:off x="838200" y="3314398"/>
            <a:ext cx="6096000" cy="338554"/>
          </a:xfrm>
          <a:prstGeom prst="rect">
            <a:avLst/>
          </a:prstGeom>
          <a:noFill/>
        </p:spPr>
        <p:txBody>
          <a:bodyPr wrap="square">
            <a:spAutoFit/>
          </a:bodyPr>
          <a:lstStyle/>
          <a:p>
            <a:pPr algn="l"/>
            <a:r>
              <a:rPr lang="en-US" sz="1600" i="0" dirty="0">
                <a:solidFill>
                  <a:srgbClr val="1E1E1E"/>
                </a:solidFill>
                <a:effectLst/>
                <a:latin typeface="Arial" panose="020B0604020202020204" pitchFamily="34" charset="0"/>
                <a:cs typeface="Arial" panose="020B0604020202020204" pitchFamily="34" charset="0"/>
                <a:hlinkClick r:id="rId6"/>
              </a:rPr>
              <a:t>What are Diffusion Models?</a:t>
            </a:r>
            <a:endParaRPr lang="en-US" sz="1600" i="0" dirty="0">
              <a:solidFill>
                <a:srgbClr val="1E1E1E"/>
              </a:solidFill>
              <a:effectLst/>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26D70EFE-29F1-4E66-0200-1474F5718162}"/>
              </a:ext>
            </a:extLst>
          </p:cNvPr>
          <p:cNvSpPr txBox="1"/>
          <p:nvPr/>
        </p:nvSpPr>
        <p:spPr>
          <a:xfrm>
            <a:off x="838200" y="3684974"/>
            <a:ext cx="10627360" cy="338554"/>
          </a:xfrm>
          <a:prstGeom prst="rect">
            <a:avLst/>
          </a:prstGeom>
          <a:noFill/>
        </p:spPr>
        <p:txBody>
          <a:bodyPr wrap="square">
            <a:spAutoFit/>
          </a:bodyPr>
          <a:lstStyle/>
          <a:p>
            <a:r>
              <a:rPr lang="en-US" sz="1600" i="0" dirty="0">
                <a:solidFill>
                  <a:srgbClr val="1C1C1D"/>
                </a:solidFill>
                <a:effectLst/>
                <a:latin typeface="Arial" panose="020B0604020202020204" pitchFamily="34" charset="0"/>
                <a:cs typeface="Arial" panose="020B0604020202020204" pitchFamily="34" charset="0"/>
                <a:hlinkClick r:id="rId7"/>
              </a:rPr>
              <a:t>An In-Depth Guide to Denoising Diffusion Probabilistic Models DDPM – Theory to Implementation</a:t>
            </a:r>
            <a:endParaRPr lang="ru-RU" sz="1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FF578DC-A727-3FA6-2578-2A0ECB7947D4}"/>
              </a:ext>
            </a:extLst>
          </p:cNvPr>
          <p:cNvSpPr txBox="1"/>
          <p:nvPr/>
        </p:nvSpPr>
        <p:spPr>
          <a:xfrm>
            <a:off x="838200" y="4055550"/>
            <a:ext cx="6096000"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hlinkClick r:id="rId8"/>
              </a:rPr>
              <a:t>Diffusion Course</a:t>
            </a:r>
            <a:endParaRPr lang="en-US" sz="1600" dirty="0">
              <a:latin typeface="Arial" panose="020B0604020202020204" pitchFamily="34" charset="0"/>
              <a:cs typeface="Arial" panose="020B0604020202020204" pitchFamily="34" charset="0"/>
            </a:endParaRPr>
          </a:p>
          <a:p>
            <a:endParaRPr lang="ru-RU" sz="1600" dirty="0">
              <a:latin typeface="Arial" panose="020B0604020202020204" pitchFamily="34" charset="0"/>
              <a:cs typeface="Arial" panose="020B0604020202020204" pitchFamily="34" charset="0"/>
            </a:endParaRPr>
          </a:p>
        </p:txBody>
      </p:sp>
      <p:sp>
        <p:nvSpPr>
          <p:cNvPr id="4" name="Номер слайда 3">
            <a:extLst>
              <a:ext uri="{FF2B5EF4-FFF2-40B4-BE49-F238E27FC236}">
                <a16:creationId xmlns:a16="http://schemas.microsoft.com/office/drawing/2014/main" id="{26D4C7E3-3AED-60EF-6854-0B8E527D43B2}"/>
              </a:ext>
            </a:extLst>
          </p:cNvPr>
          <p:cNvSpPr>
            <a:spLocks noGrp="1"/>
          </p:cNvSpPr>
          <p:nvPr>
            <p:ph type="sldNum" sz="quarter" idx="12"/>
          </p:nvPr>
        </p:nvSpPr>
        <p:spPr/>
        <p:txBody>
          <a:bodyPr/>
          <a:lstStyle/>
          <a:p>
            <a:fld id="{818D4B0C-12DF-447C-B791-E379AA958CE7}" type="slidenum">
              <a:rPr lang="ru-RU" smtClean="0"/>
              <a:pPr/>
              <a:t>37</a:t>
            </a:fld>
            <a:endParaRPr lang="ru-R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592923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8663</TotalTime>
  <Words>808</Words>
  <Application>Microsoft Office PowerPoint</Application>
  <PresentationFormat>Широкоэкранный</PresentationFormat>
  <Paragraphs>176</Paragraphs>
  <Slides>37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37</vt:i4>
      </vt:variant>
    </vt:vector>
  </HeadingPairs>
  <TitlesOfParts>
    <vt:vector size="43" baseType="lpstr">
      <vt:lpstr>Aptos</vt:lpstr>
      <vt:lpstr>Arial</vt:lpstr>
      <vt:lpstr>Calibri</vt:lpstr>
      <vt:lpstr>Calibri Light</vt:lpstr>
      <vt:lpstr>Cambria Math</vt:lpstr>
      <vt:lpstr>Тема Office</vt:lpstr>
      <vt:lpstr>Нейросетевые решения для CV Vision Large Models (VLM) Диффузионные модели</vt:lpstr>
      <vt:lpstr>Нейросетевые решения для CV</vt:lpstr>
      <vt:lpstr>Zero-shot классификация</vt:lpstr>
      <vt:lpstr>Zero-shot детекция</vt:lpstr>
      <vt:lpstr>Zero-shot детекция</vt:lpstr>
      <vt:lpstr>Zero-shot сегментация</vt:lpstr>
      <vt:lpstr>Zero-shot сегментация</vt:lpstr>
      <vt:lpstr>Интерактивная сегментация</vt:lpstr>
      <vt:lpstr>Интерактивная сегментация</vt:lpstr>
      <vt:lpstr>Zero-shot instance сегментация</vt:lpstr>
      <vt:lpstr>Zero-shot instance сегментация</vt:lpstr>
      <vt:lpstr>Zero-shot instance сегментация</vt:lpstr>
      <vt:lpstr>Zero-shot instance сегментация</vt:lpstr>
      <vt:lpstr>Ссылки на colab</vt:lpstr>
      <vt:lpstr>Vision Large Models (VLM)</vt:lpstr>
      <vt:lpstr>VLM</vt:lpstr>
      <vt:lpstr>VLM</vt:lpstr>
      <vt:lpstr>VLM</vt:lpstr>
      <vt:lpstr>VLM</vt:lpstr>
      <vt:lpstr>VLM</vt:lpstr>
      <vt:lpstr>VLM</vt:lpstr>
      <vt:lpstr>Parameter Efficient fine-tuning (PEFT)</vt:lpstr>
      <vt:lpstr>LoRA</vt:lpstr>
      <vt:lpstr>QLoRA</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lpstr>Диффузионные модели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Кумов Вячеслав Сергеевич</dc:creator>
  <cp:lastModifiedBy>a165</cp:lastModifiedBy>
  <cp:revision>140</cp:revision>
  <dcterms:created xsi:type="dcterms:W3CDTF">2024-11-06T14:38:58Z</dcterms:created>
  <dcterms:modified xsi:type="dcterms:W3CDTF">2025-12-27T05:33:46Z</dcterms:modified>
</cp:coreProperties>
</file>